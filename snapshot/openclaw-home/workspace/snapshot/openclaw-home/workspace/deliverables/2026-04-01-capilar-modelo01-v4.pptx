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7619695" cy="9525304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_cove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619695" cy="9525304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384048" y="676656"/>
            <a:ext cx="73152" cy="7973568"/>
          </a:xfrm>
          <a:prstGeom prst="rect">
            <a:avLst/>
          </a:prstGeom>
          <a:solidFill>
            <a:srgbClr val="9F88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66928" y="8467344"/>
            <a:ext cx="6099048" cy="109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76072" y="8540496"/>
            <a:ext cx="137160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19" b="0">
                <a:solidFill>
                  <a:srgbClr val="FFFFFF"/>
                </a:solidFill>
                <a:latin typeface="Aptos"/>
              </a:rPr>
              <a:t>@dradaniely.freitas</a:t>
            </a:r>
          </a:p>
        </p:txBody>
      </p:sp>
      <p:sp>
        <p:nvSpPr>
          <p:cNvPr id="6" name="Chevron 5"/>
          <p:cNvSpPr/>
          <p:nvPr/>
        </p:nvSpPr>
        <p:spPr>
          <a:xfrm>
            <a:off x="6281928" y="8522208"/>
            <a:ext cx="146304" cy="91440"/>
          </a:xfrm>
          <a:prstGeom prst="chevron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894576" y="420624"/>
            <a:ext cx="347472" cy="347472"/>
          </a:xfrm>
          <a:prstGeom prst="ellipse">
            <a:avLst/>
          </a:prstGeom>
          <a:solidFill>
            <a:srgbClr val="EBEB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1">
                <a:solidFill>
                  <a:srgbClr val="121212"/>
                </a:solidFill>
                <a:latin typeface="Aptos"/>
              </a:rPr>
              <a:t>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85216" y="694944"/>
            <a:ext cx="1874519" cy="26517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50" b="1">
                <a:solidFill>
                  <a:srgbClr val="574717"/>
                </a:solidFill>
                <a:latin typeface="Aptos"/>
              </a:rPr>
              <a:t>DRA. DANIELY FREITAS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542032" y="694944"/>
            <a:ext cx="1298448" cy="265176"/>
          </a:xfrm>
          <a:prstGeom prst="roundRect">
            <a:avLst/>
          </a:prstGeom>
          <a:solidFill>
            <a:srgbClr val="9F88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50" b="1">
                <a:solidFill>
                  <a:srgbClr val="FFFFFF"/>
                </a:solidFill>
                <a:latin typeface="Aptos"/>
              </a:rPr>
              <a:t>VITAL SLIM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4736592"/>
            <a:ext cx="429768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350" b="1">
                <a:solidFill>
                  <a:srgbClr val="FFFFFF"/>
                </a:solidFill>
                <a:latin typeface="Aptos"/>
              </a:rPr>
              <a:t>EMAGRECER SEM
PERDER CABELO?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6108192"/>
            <a:ext cx="49377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40" b="0">
                <a:solidFill>
                  <a:srgbClr val="FFFFFF"/>
                </a:solidFill>
                <a:latin typeface="Aptos"/>
              </a:rPr>
              <a:t>Sim — quando o processo respeita nutrientes, hormônios e velocidade de resposta.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619695" cy="9525304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384048" y="676656"/>
            <a:ext cx="73152" cy="7973568"/>
          </a:xfrm>
          <a:prstGeom prst="rect">
            <a:avLst/>
          </a:prstGeom>
          <a:solidFill>
            <a:srgbClr val="9F88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66928" y="8467344"/>
            <a:ext cx="6099048" cy="109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76072" y="8540496"/>
            <a:ext cx="137160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19" b="0">
                <a:solidFill>
                  <a:srgbClr val="FFFFFF"/>
                </a:solidFill>
                <a:latin typeface="Aptos"/>
              </a:rPr>
              <a:t>@dradaniely.freitas</a:t>
            </a:r>
          </a:p>
        </p:txBody>
      </p:sp>
      <p:sp>
        <p:nvSpPr>
          <p:cNvPr id="6" name="Chevron 5"/>
          <p:cNvSpPr/>
          <p:nvPr/>
        </p:nvSpPr>
        <p:spPr>
          <a:xfrm>
            <a:off x="6281928" y="8522208"/>
            <a:ext cx="146304" cy="91440"/>
          </a:xfrm>
          <a:prstGeom prst="chevron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894576" y="420624"/>
            <a:ext cx="347472" cy="347472"/>
          </a:xfrm>
          <a:prstGeom prst="ellipse">
            <a:avLst/>
          </a:prstGeom>
          <a:solidFill>
            <a:srgbClr val="EBEB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1">
                <a:solidFill>
                  <a:srgbClr val="121212"/>
                </a:solidFill>
                <a:latin typeface="Aptos"/>
              </a:rPr>
              <a:t>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85216" y="694944"/>
            <a:ext cx="1874519" cy="26517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50" b="1">
                <a:solidFill>
                  <a:srgbClr val="574717"/>
                </a:solidFill>
                <a:latin typeface="Aptos"/>
              </a:rPr>
              <a:t>DRA. DANIELY FREITAS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542032" y="694944"/>
            <a:ext cx="1298448" cy="265176"/>
          </a:xfrm>
          <a:prstGeom prst="roundRect">
            <a:avLst/>
          </a:prstGeom>
          <a:solidFill>
            <a:srgbClr val="9F88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50" b="1">
                <a:solidFill>
                  <a:srgbClr val="FFFFFF"/>
                </a:solidFill>
                <a:latin typeface="Aptos"/>
              </a:rPr>
              <a:t>VITAL SLIM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4663440"/>
            <a:ext cx="45720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50" b="1">
                <a:solidFill>
                  <a:srgbClr val="FFFFFF"/>
                </a:solidFill>
                <a:latin typeface="Aptos"/>
              </a:rPr>
              <a:t>A QUEDA NÃO
SURGE DO NADA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5687568"/>
            <a:ext cx="512064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10" b="1">
                <a:solidFill>
                  <a:srgbClr val="FFFFFF"/>
                </a:solidFill>
                <a:latin typeface="Aptos"/>
              </a:rPr>
              <a:t>Proteína baixa, ferritina, estresse e velocidade excessiva podem cobrar no fio.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6446520"/>
            <a:ext cx="51206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90" b="0">
                <a:solidFill>
                  <a:srgbClr val="FFFFFF"/>
                </a:solidFill>
                <a:latin typeface="Aptos"/>
              </a:rPr>
              <a:t>Quando o emagrecimento vira agressão metabólica, o cabelo costuma ser um dos primeiros lugares a mostrar o custo biológico.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8065008"/>
            <a:ext cx="53035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60" b="0">
                <a:solidFill>
                  <a:srgbClr val="FFFFFF"/>
                </a:solidFill>
                <a:latin typeface="Aptos"/>
              </a:rPr>
              <a:t>Referência editorial: eflúvio telógeno e estresse metabólico.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_cove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619695" cy="9525304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384048" y="676656"/>
            <a:ext cx="73152" cy="7973568"/>
          </a:xfrm>
          <a:prstGeom prst="rect">
            <a:avLst/>
          </a:prstGeom>
          <a:solidFill>
            <a:srgbClr val="9F88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66928" y="8467344"/>
            <a:ext cx="6099048" cy="109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76072" y="8540496"/>
            <a:ext cx="137160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19" b="0">
                <a:solidFill>
                  <a:srgbClr val="FFFFFF"/>
                </a:solidFill>
                <a:latin typeface="Aptos"/>
              </a:rPr>
              <a:t>@dradaniely.freitas</a:t>
            </a:r>
          </a:p>
        </p:txBody>
      </p:sp>
      <p:sp>
        <p:nvSpPr>
          <p:cNvPr id="6" name="Chevron 5"/>
          <p:cNvSpPr/>
          <p:nvPr/>
        </p:nvSpPr>
        <p:spPr>
          <a:xfrm>
            <a:off x="6281928" y="8522208"/>
            <a:ext cx="146304" cy="91440"/>
          </a:xfrm>
          <a:prstGeom prst="chevron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894576" y="420624"/>
            <a:ext cx="347472" cy="347472"/>
          </a:xfrm>
          <a:prstGeom prst="ellipse">
            <a:avLst/>
          </a:prstGeom>
          <a:solidFill>
            <a:srgbClr val="EBEB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1">
                <a:solidFill>
                  <a:srgbClr val="121212"/>
                </a:solidFill>
                <a:latin typeface="Aptos"/>
              </a:rPr>
              <a:t>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85216" y="694944"/>
            <a:ext cx="1874519" cy="26517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50" b="1">
                <a:solidFill>
                  <a:srgbClr val="574717"/>
                </a:solidFill>
                <a:latin typeface="Aptos"/>
              </a:rPr>
              <a:t>DRA. DANIELY FREITAS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542032" y="694944"/>
            <a:ext cx="1298448" cy="265176"/>
          </a:xfrm>
          <a:prstGeom prst="roundRect">
            <a:avLst/>
          </a:prstGeom>
          <a:solidFill>
            <a:srgbClr val="9F88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50" b="1">
                <a:solidFill>
                  <a:srgbClr val="FFFFFF"/>
                </a:solidFill>
                <a:latin typeface="Aptos"/>
              </a:rPr>
              <a:t>VITAL SLIM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4663440"/>
            <a:ext cx="45720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50" b="1">
                <a:solidFill>
                  <a:srgbClr val="FFFFFF"/>
                </a:solidFill>
                <a:latin typeface="Aptos"/>
              </a:rPr>
              <a:t>NO VITAL SLIM
OLHAMOS A CAUSA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5687568"/>
            <a:ext cx="512064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10" b="1">
                <a:solidFill>
                  <a:srgbClr val="FFFFFF"/>
                </a:solidFill>
                <a:latin typeface="Aptos"/>
              </a:rPr>
              <a:t>O foco não é esconder a queda. É corrigir o terreno que levou a ela.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6446520"/>
            <a:ext cx="51206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90" b="0">
                <a:solidFill>
                  <a:srgbClr val="FFFFFF"/>
                </a:solidFill>
                <a:latin typeface="Aptos"/>
              </a:rPr>
              <a:t>Isso passa por exames, ajuste nutricional, revisão de estratégia e velocidade adequada para o seu caso.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8065008"/>
            <a:ext cx="53035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60" b="0">
                <a:solidFill>
                  <a:srgbClr val="FFFFFF"/>
                </a:solidFill>
                <a:latin typeface="Aptos"/>
              </a:rPr>
              <a:t>Educação médica com abordagem integrada.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619695" cy="9525304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384048" y="676656"/>
            <a:ext cx="73152" cy="7973568"/>
          </a:xfrm>
          <a:prstGeom prst="rect">
            <a:avLst/>
          </a:prstGeom>
          <a:solidFill>
            <a:srgbClr val="9F88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66928" y="8467344"/>
            <a:ext cx="6099048" cy="109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76072" y="8540496"/>
            <a:ext cx="137160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19" b="0">
                <a:solidFill>
                  <a:srgbClr val="FFFFFF"/>
                </a:solidFill>
                <a:latin typeface="Aptos"/>
              </a:rPr>
              <a:t>@dradaniely.freitas</a:t>
            </a:r>
          </a:p>
        </p:txBody>
      </p:sp>
      <p:sp>
        <p:nvSpPr>
          <p:cNvPr id="6" name="Chevron 5"/>
          <p:cNvSpPr/>
          <p:nvPr/>
        </p:nvSpPr>
        <p:spPr>
          <a:xfrm>
            <a:off x="6281928" y="8522208"/>
            <a:ext cx="146304" cy="91440"/>
          </a:xfrm>
          <a:prstGeom prst="chevron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894576" y="420624"/>
            <a:ext cx="347472" cy="347472"/>
          </a:xfrm>
          <a:prstGeom prst="ellipse">
            <a:avLst/>
          </a:prstGeom>
          <a:solidFill>
            <a:srgbClr val="EBEB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1">
                <a:solidFill>
                  <a:srgbClr val="121212"/>
                </a:solidFill>
                <a:latin typeface="Aptos"/>
              </a:rPr>
              <a:t>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85216" y="694944"/>
            <a:ext cx="1874519" cy="26517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50" b="1">
                <a:solidFill>
                  <a:srgbClr val="574717"/>
                </a:solidFill>
                <a:latin typeface="Aptos"/>
              </a:rPr>
              <a:t>DRA. DANIELY FREITAS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542032" y="694944"/>
            <a:ext cx="1298448" cy="265176"/>
          </a:xfrm>
          <a:prstGeom prst="roundRect">
            <a:avLst/>
          </a:prstGeom>
          <a:solidFill>
            <a:srgbClr val="9F88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50" b="1">
                <a:solidFill>
                  <a:srgbClr val="FFFFFF"/>
                </a:solidFill>
                <a:latin typeface="Aptos"/>
              </a:rPr>
              <a:t>VITAL SLIM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4663440"/>
            <a:ext cx="45720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50" b="1">
                <a:solidFill>
                  <a:srgbClr val="FFFFFF"/>
                </a:solidFill>
                <a:latin typeface="Aptos"/>
              </a:rPr>
              <a:t>O OBJETIVO É
EMAGRECER BEM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5687568"/>
            <a:ext cx="512064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10" b="1">
                <a:solidFill>
                  <a:srgbClr val="FFFFFF"/>
                </a:solidFill>
                <a:latin typeface="Aptos"/>
              </a:rPr>
              <a:t>Resultado bonito é aquele que melhora corpo, energia e autoestima ao mesmo tempo.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6446520"/>
            <a:ext cx="51206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90" b="0">
                <a:solidFill>
                  <a:srgbClr val="FFFFFF"/>
                </a:solidFill>
                <a:latin typeface="Aptos"/>
              </a:rPr>
              <a:t>Emagrecer bem é preservar massa, micronutrientes e confiança — sem transformar o processo em uma conta cara para o cabelo.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8065008"/>
            <a:ext cx="53035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60" b="0">
                <a:solidFill>
                  <a:srgbClr val="FFFFFF"/>
                </a:solidFill>
                <a:latin typeface="Aptos"/>
              </a:rPr>
              <a:t>Peça editorial com linguagem acessível.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ractic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619695" cy="9525304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384048" y="676656"/>
            <a:ext cx="73152" cy="7973568"/>
          </a:xfrm>
          <a:prstGeom prst="rect">
            <a:avLst/>
          </a:prstGeom>
          <a:solidFill>
            <a:srgbClr val="9F88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66928" y="8467344"/>
            <a:ext cx="6099048" cy="10972"/>
          </a:xfrm>
          <a:prstGeom prst="rect">
            <a:avLst/>
          </a:prstGeom>
          <a:solidFill>
            <a:srgbClr val="E1DC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76072" y="8540496"/>
            <a:ext cx="137160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19" b="0">
                <a:solidFill>
                  <a:srgbClr val="646464"/>
                </a:solidFill>
                <a:latin typeface="Aptos"/>
              </a:rPr>
              <a:t>@dradaniely.freitas</a:t>
            </a:r>
          </a:p>
        </p:txBody>
      </p:sp>
      <p:sp>
        <p:nvSpPr>
          <p:cNvPr id="6" name="Chevron 5"/>
          <p:cNvSpPr/>
          <p:nvPr/>
        </p:nvSpPr>
        <p:spPr>
          <a:xfrm>
            <a:off x="6281928" y="8522208"/>
            <a:ext cx="146304" cy="91440"/>
          </a:xfrm>
          <a:prstGeom prst="chevron">
            <a:avLst/>
          </a:prstGeom>
          <a:solidFill>
            <a:srgbClr val="9F88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894576" y="420624"/>
            <a:ext cx="347472" cy="347472"/>
          </a:xfrm>
          <a:prstGeom prst="ellipse">
            <a:avLst/>
          </a:prstGeom>
          <a:solidFill>
            <a:srgbClr val="EBEB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1">
                <a:solidFill>
                  <a:srgbClr val="121212"/>
                </a:solidFill>
                <a:latin typeface="Aptos"/>
              </a:rPr>
              <a:t>5</a:t>
            </a:r>
          </a:p>
        </p:txBody>
      </p:sp>
      <p:pic>
        <p:nvPicPr>
          <p:cNvPr id="8" name="Picture 7" descr="avat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" y="804672"/>
            <a:ext cx="530352" cy="53035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335024" y="896112"/>
            <a:ext cx="21031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80" b="1">
                <a:solidFill>
                  <a:srgbClr val="121212"/>
                </a:solidFill>
                <a:latin typeface="Aptos"/>
              </a:rPr>
              <a:t>DRA. DANIELY FREITAS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35024" y="1060704"/>
            <a:ext cx="21031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40" b="0">
                <a:solidFill>
                  <a:srgbClr val="646464"/>
                </a:solidFill>
                <a:latin typeface="Aptos"/>
              </a:rPr>
              <a:t>@dradaniely.freitas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" y="2048256"/>
            <a:ext cx="3200400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9F8844"/>
                </a:solidFill>
                <a:latin typeface="Aptos"/>
              </a:rPr>
              <a:t>Minha prática: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2834640"/>
            <a:ext cx="566928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0">
                <a:solidFill>
                  <a:srgbClr val="121212"/>
                </a:solidFill>
                <a:latin typeface="Aptos"/>
              </a:rPr>
              <a:t>• Mapeio exames e história clínica antes de acelerar o processo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9808" y="3547872"/>
            <a:ext cx="566928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0">
                <a:solidFill>
                  <a:srgbClr val="121212"/>
                </a:solidFill>
                <a:latin typeface="Aptos"/>
              </a:rPr>
              <a:t>• Corrijo proteína, ferro, vitaminas e sinais de carência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9808" y="4261104"/>
            <a:ext cx="566928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0">
                <a:solidFill>
                  <a:srgbClr val="121212"/>
                </a:solidFill>
                <a:latin typeface="Aptos"/>
              </a:rPr>
              <a:t>• Revejo a estratégia para emagrecer sem sacrificar saúde capilar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9808" y="4974336"/>
            <a:ext cx="566928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0">
                <a:solidFill>
                  <a:srgbClr val="121212"/>
                </a:solidFill>
                <a:latin typeface="Aptos"/>
              </a:rPr>
              <a:t>• Monitoro sintomas, composição corporal e resposta do fio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9808" y="5687568"/>
            <a:ext cx="566928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0">
                <a:solidFill>
                  <a:srgbClr val="121212"/>
                </a:solidFill>
                <a:latin typeface="Aptos"/>
              </a:rPr>
              <a:t>• Personalizo o ritmo de acordo com cada paciente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619695" cy="9525304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384048" y="676656"/>
            <a:ext cx="73152" cy="7973568"/>
          </a:xfrm>
          <a:prstGeom prst="rect">
            <a:avLst/>
          </a:prstGeom>
          <a:solidFill>
            <a:srgbClr val="9F88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66928" y="8467344"/>
            <a:ext cx="6099048" cy="109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76072" y="8540496"/>
            <a:ext cx="137160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19" b="0">
                <a:solidFill>
                  <a:srgbClr val="FFFFFF"/>
                </a:solidFill>
                <a:latin typeface="Aptos"/>
              </a:rPr>
              <a:t>@dradaniely.freitas</a:t>
            </a:r>
          </a:p>
        </p:txBody>
      </p:sp>
      <p:sp>
        <p:nvSpPr>
          <p:cNvPr id="6" name="Chevron 5"/>
          <p:cNvSpPr/>
          <p:nvPr/>
        </p:nvSpPr>
        <p:spPr>
          <a:xfrm>
            <a:off x="6281928" y="8522208"/>
            <a:ext cx="146304" cy="91440"/>
          </a:xfrm>
          <a:prstGeom prst="chevron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894576" y="420624"/>
            <a:ext cx="347472" cy="347472"/>
          </a:xfrm>
          <a:prstGeom prst="ellipse">
            <a:avLst/>
          </a:prstGeom>
          <a:solidFill>
            <a:srgbClr val="EBEB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1">
                <a:solidFill>
                  <a:srgbClr val="121212"/>
                </a:solidFill>
                <a:latin typeface="Aptos"/>
              </a:rPr>
              <a:t>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85216" y="694944"/>
            <a:ext cx="1965960" cy="26517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50" b="1">
                <a:solidFill>
                  <a:srgbClr val="574717"/>
                </a:solidFill>
                <a:latin typeface="Aptos"/>
              </a:rPr>
              <a:t>ATENDIMENTO VITAL SLIM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4736592"/>
            <a:ext cx="457200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20" b="1">
                <a:solidFill>
                  <a:srgbClr val="FFFFFF"/>
                </a:solidFill>
                <a:latin typeface="Aptos"/>
              </a:rPr>
              <a:t>EMAGRECER E
PRESERVAR OS FIOS.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5998464"/>
            <a:ext cx="47548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20" b="0">
                <a:solidFill>
                  <a:srgbClr val="FFFFFF"/>
                </a:solidFill>
                <a:latin typeface="Aptos"/>
              </a:rPr>
              <a:t>É possível quando existe diagnóstico, estratégia e acompanhamento.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7059168"/>
            <a:ext cx="347472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20" b="1">
                <a:solidFill>
                  <a:srgbClr val="FFFFFF"/>
                </a:solidFill>
                <a:latin typeface="Aptos"/>
              </a:rPr>
              <a:t>Salve este post.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7479792"/>
            <a:ext cx="475488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19" b="0">
                <a:solidFill>
                  <a:srgbClr val="FFFFFF"/>
                </a:solidFill>
                <a:latin typeface="Aptos"/>
              </a:rPr>
              <a:t>Se fizer sentido, me chame para uma avaliação estratégica.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