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7619695" cy="952530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_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736592"/>
            <a:ext cx="429768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50" b="1">
                <a:solidFill>
                  <a:srgbClr val="FFFFFF"/>
                </a:solidFill>
                <a:latin typeface="Aptos"/>
              </a:rPr>
              <a:t>GLYNAC
NA ROTINA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108192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40" b="0">
                <a:solidFill>
                  <a:srgbClr val="FFFFFF"/>
                </a:solidFill>
                <a:latin typeface="Aptos"/>
              </a:rPr>
              <a:t>Aplicação clínica com mais clareza, critério e enquadramento fotográfico correto.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FFFFFF"/>
                </a:solidFill>
                <a:latin typeface="Aptos"/>
              </a:rPr>
              <a:t>GLUTATIONA
EM ALTA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87568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1">
                <a:solidFill>
                  <a:srgbClr val="FFFFFF"/>
                </a:solidFill>
                <a:latin typeface="Aptos"/>
              </a:rPr>
              <a:t>Quando bem indicado, o protocolo pode favorecer um ambiente redox mais eficiente.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90" b="0">
                <a:solidFill>
                  <a:srgbClr val="FFFFFF"/>
                </a:solidFill>
                <a:latin typeface="Aptos"/>
              </a:rPr>
              <a:t>O ponto não é tendência. É contexto clínico, dose adequada e acompanhamento ao longo da resposta.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Aptos"/>
              </a:rPr>
              <a:t>Referência editorial: Lai et al., 2024.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FFFFFF"/>
                </a:solidFill>
                <a:latin typeface="Aptos"/>
              </a:rPr>
              <a:t>METABOLISMO
MAIS FLEXÍVEL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87568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1">
                <a:solidFill>
                  <a:srgbClr val="FFFFFF"/>
                </a:solidFill>
                <a:latin typeface="Aptos"/>
              </a:rPr>
              <a:t>A leitura clínica sugere uma resposta energética mais ajustada e estratégica.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90" b="0">
                <a:solidFill>
                  <a:srgbClr val="FFFFFF"/>
                </a:solidFill>
                <a:latin typeface="Aptos"/>
              </a:rPr>
              <a:t>Na prática, isso importa quando o objetivo é combinar performance, composição corporal e segurança metabólica.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Aptos"/>
              </a:rPr>
              <a:t>Resumo visual para educação; individualização é indispensável.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874519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DRA. DANIELY FREITAS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2032" y="694944"/>
            <a:ext cx="1298448" cy="265176"/>
          </a:xfrm>
          <a:prstGeom prst="round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FFFFFF"/>
                </a:solidFill>
                <a:latin typeface="Aptos"/>
              </a:rPr>
              <a:t>VITAL SLIM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663440"/>
            <a:ext cx="45720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50" b="1">
                <a:solidFill>
                  <a:srgbClr val="FFFFFF"/>
                </a:solidFill>
                <a:latin typeface="Aptos"/>
              </a:rPr>
              <a:t>COMPOSIÇÃO E
FORÇA EM 14 DIAS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687568"/>
            <a:ext cx="51206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10" b="1">
                <a:solidFill>
                  <a:srgbClr val="FFFFFF"/>
                </a:solidFill>
                <a:latin typeface="Aptos"/>
              </a:rPr>
              <a:t>O alvo não é apenas reduzir gordura — é preservar função, massa e performance.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446520"/>
            <a:ext cx="5120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90" b="0">
                <a:solidFill>
                  <a:srgbClr val="FFFFFF"/>
                </a:solidFill>
                <a:latin typeface="Aptos"/>
              </a:rPr>
              <a:t>Em protocolos curtos, o que interessa é a direção clínica correta: menos ruído, mais critério e melhor execução.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8065008"/>
            <a:ext cx="5303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60" b="0">
                <a:solidFill>
                  <a:srgbClr val="FFFFFF"/>
                </a:solidFill>
                <a:latin typeface="Aptos"/>
              </a:rPr>
              <a:t>Peça educativa; resultados dependem do caso.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acti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E1DC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646464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5</a:t>
            </a:r>
          </a:p>
        </p:txBody>
      </p:sp>
      <p:pic>
        <p:nvPicPr>
          <p:cNvPr id="8" name="Picture 7" descr="avat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804672"/>
            <a:ext cx="530352" cy="53035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35024" y="896112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121212"/>
                </a:solidFill>
                <a:latin typeface="Aptos"/>
              </a:rPr>
              <a:t>DRA. DANIELY FREITAS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1060704"/>
            <a:ext cx="21031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40" b="0">
                <a:solidFill>
                  <a:srgbClr val="646464"/>
                </a:solidFill>
                <a:latin typeface="Aptos"/>
              </a:rPr>
              <a:t>@dradaniely.freitas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2048256"/>
            <a:ext cx="320040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9F8844"/>
                </a:solidFill>
                <a:latin typeface="Aptos"/>
              </a:rPr>
              <a:t>Minha prática: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834640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Avalio contexto metabólico, inflamatório e objetivo clínico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3547872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Defino se há indicação real antes de incluir qualquer protocolo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61104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Ajusto dose, timing e associação com nutrição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4974336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Monitoro sinais, sintomas e exames ao longo do processo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687568"/>
            <a:ext cx="56692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0">
                <a:solidFill>
                  <a:srgbClr val="121212"/>
                </a:solidFill>
                <a:latin typeface="Aptos"/>
              </a:rPr>
              <a:t>• Reavalio o que está funcionando e o que precisa ser refinado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619695" cy="952530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84048" y="676656"/>
            <a:ext cx="73152" cy="7973568"/>
          </a:xfrm>
          <a:prstGeom prst="rect">
            <a:avLst/>
          </a:prstGeom>
          <a:solidFill>
            <a:srgbClr val="9F8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8467344"/>
            <a:ext cx="6099048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8540496"/>
            <a:ext cx="1371600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19" b="0">
                <a:solidFill>
                  <a:srgbClr val="FFFFFF"/>
                </a:solidFill>
                <a:latin typeface="Aptos"/>
              </a:rPr>
              <a:t>@dradaniely.freitas</a:t>
            </a:r>
          </a:p>
        </p:txBody>
      </p:sp>
      <p:sp>
        <p:nvSpPr>
          <p:cNvPr id="6" name="Chevron 5"/>
          <p:cNvSpPr/>
          <p:nvPr/>
        </p:nvSpPr>
        <p:spPr>
          <a:xfrm>
            <a:off x="6281928" y="8522208"/>
            <a:ext cx="146304" cy="91440"/>
          </a:xfrm>
          <a:prstGeom prst="chevron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94576" y="420624"/>
            <a:ext cx="347472" cy="347472"/>
          </a:xfrm>
          <a:prstGeom prst="ellipse">
            <a:avLst/>
          </a:prstGeom>
          <a:solidFill>
            <a:srgbClr val="EB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ptos"/>
              </a:rP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" y="694944"/>
            <a:ext cx="1965960" cy="26517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574717"/>
                </a:solidFill>
                <a:latin typeface="Aptos"/>
              </a:rPr>
              <a:t>ATENDIMENTO VITAL SLIM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736592"/>
            <a:ext cx="45720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20" b="1">
                <a:solidFill>
                  <a:srgbClr val="FFFFFF"/>
                </a:solidFill>
                <a:latin typeface="Aptos"/>
              </a:rPr>
              <a:t>NÃO É SOBRE
TOMAR MAIS.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98464"/>
            <a:ext cx="47548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20" b="0">
                <a:solidFill>
                  <a:srgbClr val="FFFFFF"/>
                </a:solidFill>
                <a:latin typeface="Aptos"/>
              </a:rPr>
              <a:t>É sobre indicar melhor, acompanhar de perto e ajustar com estratégia.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7059168"/>
            <a:ext cx="347472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20" b="1">
                <a:solidFill>
                  <a:srgbClr val="FFFFFF"/>
                </a:solidFill>
                <a:latin typeface="Aptos"/>
              </a:rPr>
              <a:t>Salve este post.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7479792"/>
            <a:ext cx="475488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Aptos"/>
              </a:rPr>
              <a:t>Se fizer sentido, me chame para uma avaliação estratégica.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