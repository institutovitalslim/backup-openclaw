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619695" cy="95253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619695" cy="952530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658368"/>
            <a:ext cx="128016" cy="8092440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201168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24912" y="658368"/>
            <a:ext cx="1417320" cy="274320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45720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EMAGRECER SEM
PERDER CABELO?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566160"/>
            <a:ext cx="4389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0">
                <a:solidFill>
                  <a:srgbClr val="FFFFFF"/>
                </a:solidFill>
                <a:latin typeface="Aptos"/>
              </a:rPr>
              <a:t>Sim — quando o processo respeita nutrientes, hormônios e velocidade de resposta.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8759952"/>
            <a:ext cx="6537960" cy="13716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88879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11" name="Chevron 10"/>
          <p:cNvSpPr/>
          <p:nvPr/>
        </p:nvSpPr>
        <p:spPr>
          <a:xfrm>
            <a:off x="6492240" y="8842248"/>
            <a:ext cx="164592" cy="109728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74717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713232"/>
            <a:ext cx="2432304" cy="7360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36592" y="713232"/>
            <a:ext cx="2432304" cy="7360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85216"/>
            <a:ext cx="1444752" cy="274320"/>
          </a:xfrm>
          <a:prstGeom prst="roundRect">
            <a:avLst/>
          </a:prstGeom>
          <a:solidFill>
            <a:srgbClr val="574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PILAR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50976"/>
            <a:ext cx="3840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74717"/>
                </a:solidFill>
                <a:latin typeface="Aptos"/>
              </a:rPr>
              <a:t>A QUEDA NÃO
SURGE DO 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682496"/>
            <a:ext cx="3703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746853"/>
                </a:solidFill>
                <a:latin typeface="Aptos"/>
              </a:rPr>
              <a:t>Na prática, o cabelo costuma sofrer quando o emagrecimento vira agressão metabólica.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331720"/>
            <a:ext cx="162763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2432304"/>
            <a:ext cx="135331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F8844"/>
                </a:solidFill>
                <a:latin typeface="Aptos"/>
              </a:rPr>
              <a:t>PROTEÍNA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633472"/>
            <a:ext cx="135331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61616"/>
                </a:solidFill>
                <a:latin typeface="Aptos"/>
              </a:rPr>
              <a:t>Ingestão baixa reduz matéria-prima para fios mais fortes.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0008" y="2331720"/>
            <a:ext cx="162763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2432304"/>
            <a:ext cx="135331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F8844"/>
                </a:solidFill>
                <a:latin typeface="Aptos"/>
              </a:rPr>
              <a:t>FERRITINA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633472"/>
            <a:ext cx="135331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61616"/>
                </a:solidFill>
                <a:latin typeface="Aptos"/>
              </a:rPr>
              <a:t>Reserva inadequada pode aparecer como afinamento e queda difusa.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3749039"/>
            <a:ext cx="162763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3849623"/>
            <a:ext cx="135331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F8844"/>
                </a:solidFill>
                <a:latin typeface="Aptos"/>
              </a:rPr>
              <a:t>ESTRESSE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4050791"/>
            <a:ext cx="135331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61616"/>
                </a:solidFill>
                <a:latin typeface="Aptos"/>
              </a:rPr>
              <a:t>Déficit excessivo e rotina caótica aumentam a chance de eflúvio.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50008" y="3749039"/>
            <a:ext cx="162763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87168" y="3849623"/>
            <a:ext cx="135331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F8844"/>
                </a:solidFill>
                <a:latin typeface="Aptos"/>
              </a:rPr>
              <a:t>VELOCIDADE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4050791"/>
            <a:ext cx="135331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61616"/>
                </a:solidFill>
                <a:latin typeface="Aptos"/>
              </a:rPr>
              <a:t>Emagrecer rápido demais costuma cobrar um preço biológico.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5321808"/>
            <a:ext cx="3566160" cy="420624"/>
          </a:xfrm>
          <a:prstGeom prst="roundRect">
            <a:avLst/>
          </a:prstGeom>
          <a:solidFill>
            <a:srgbClr val="EBE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5422392"/>
            <a:ext cx="3154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0" b="0">
                <a:solidFill>
                  <a:srgbClr val="574717"/>
                </a:solidFill>
                <a:latin typeface="Aptos"/>
              </a:rPr>
              <a:t>Referência editorial: eflúvio telógeno e perdas por estresse metabólico.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8759952"/>
            <a:ext cx="6537960" cy="13716"/>
          </a:xfrm>
          <a:prstGeom prst="rect">
            <a:avLst/>
          </a:prstGeom>
          <a:solidFill>
            <a:srgbClr val="DED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88879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46853"/>
                </a:solidFill>
                <a:latin typeface="Aptos"/>
              </a:rPr>
              <a:t>@dradaniely.freitas</a:t>
            </a:r>
          </a:p>
        </p:txBody>
      </p:sp>
      <p:sp>
        <p:nvSpPr>
          <p:cNvPr id="24" name="Chevron 23"/>
          <p:cNvSpPr/>
          <p:nvPr/>
        </p:nvSpPr>
        <p:spPr>
          <a:xfrm>
            <a:off x="6492240" y="8842248"/>
            <a:ext cx="164592" cy="109728"/>
          </a:xfrm>
          <a:prstGeom prst="chevron">
            <a:avLst/>
          </a:prstGeom>
          <a:solidFill>
            <a:srgbClr val="74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713232"/>
            <a:ext cx="2432304" cy="7360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36592" y="713232"/>
            <a:ext cx="2432304" cy="7360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85216"/>
            <a:ext cx="1444752" cy="274320"/>
          </a:xfrm>
          <a:prstGeom prst="roundRect">
            <a:avLst/>
          </a:prstGeom>
          <a:solidFill>
            <a:srgbClr val="574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PILAR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50976"/>
            <a:ext cx="3840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74717"/>
                </a:solidFill>
                <a:latin typeface="Aptos"/>
              </a:rPr>
              <a:t>NO VITAL SLIM
OLHAMOS A CAUSA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682496"/>
            <a:ext cx="3703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746853"/>
                </a:solidFill>
                <a:latin typeface="Aptos"/>
              </a:rPr>
              <a:t>O foco não é esconder a queda. É corrigir o terreno que levou a ela.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331720"/>
            <a:ext cx="162763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2432304"/>
            <a:ext cx="135331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F8844"/>
                </a:solidFill>
                <a:latin typeface="Aptos"/>
              </a:rPr>
              <a:t>EXAMES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633472"/>
            <a:ext cx="135331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61616"/>
                </a:solidFill>
                <a:latin typeface="Aptos"/>
              </a:rPr>
              <a:t>Ferritina, B12, vitamina D, proteínas e contexto hormonal.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0008" y="2331720"/>
            <a:ext cx="162763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2432304"/>
            <a:ext cx="135331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F8844"/>
                </a:solidFill>
                <a:latin typeface="Aptos"/>
              </a:rPr>
              <a:t>NUTRIÇÃO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633472"/>
            <a:ext cx="135331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61616"/>
                </a:solidFill>
                <a:latin typeface="Aptos"/>
              </a:rPr>
              <a:t>Ajustes de proteína, micronutrientes e estratégia alimentar.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3749039"/>
            <a:ext cx="162763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3849623"/>
            <a:ext cx="135331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F8844"/>
                </a:solidFill>
                <a:latin typeface="Aptos"/>
              </a:rPr>
              <a:t>MEDICAMENTOS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4050791"/>
            <a:ext cx="135331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61616"/>
                </a:solidFill>
                <a:latin typeface="Aptos"/>
              </a:rPr>
              <a:t>Revisão do protocolo para emagrecer sem sacrificar saúde capilar.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50008" y="3749039"/>
            <a:ext cx="162763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87168" y="3849623"/>
            <a:ext cx="135331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F8844"/>
                </a:solidFill>
                <a:latin typeface="Aptos"/>
              </a:rPr>
              <a:t>RITMO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4050791"/>
            <a:ext cx="135331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61616"/>
                </a:solidFill>
                <a:latin typeface="Aptos"/>
              </a:rPr>
              <a:t>A velocidade do processo também é tratamento.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5321808"/>
            <a:ext cx="3566160" cy="420624"/>
          </a:xfrm>
          <a:prstGeom prst="roundRect">
            <a:avLst/>
          </a:prstGeom>
          <a:solidFill>
            <a:srgbClr val="EBE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5422392"/>
            <a:ext cx="3154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0" b="0">
                <a:solidFill>
                  <a:srgbClr val="574717"/>
                </a:solidFill>
                <a:latin typeface="Aptos"/>
              </a:rPr>
              <a:t>Estratégia clínica: emagrecer preservando metabolismo e fios.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8759952"/>
            <a:ext cx="6537960" cy="13716"/>
          </a:xfrm>
          <a:prstGeom prst="rect">
            <a:avLst/>
          </a:prstGeom>
          <a:solidFill>
            <a:srgbClr val="DED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88879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46853"/>
                </a:solidFill>
                <a:latin typeface="Aptos"/>
              </a:rPr>
              <a:t>@dradaniely.freitas</a:t>
            </a:r>
          </a:p>
        </p:txBody>
      </p:sp>
      <p:sp>
        <p:nvSpPr>
          <p:cNvPr id="24" name="Chevron 23"/>
          <p:cNvSpPr/>
          <p:nvPr/>
        </p:nvSpPr>
        <p:spPr>
          <a:xfrm>
            <a:off x="6492240" y="8842248"/>
            <a:ext cx="164592" cy="109728"/>
          </a:xfrm>
          <a:prstGeom prst="chevron">
            <a:avLst/>
          </a:prstGeom>
          <a:solidFill>
            <a:srgbClr val="74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713232"/>
            <a:ext cx="2432304" cy="7360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36592" y="713232"/>
            <a:ext cx="2432304" cy="7360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85216"/>
            <a:ext cx="1444752" cy="274320"/>
          </a:xfrm>
          <a:prstGeom prst="roundRect">
            <a:avLst/>
          </a:prstGeom>
          <a:solidFill>
            <a:srgbClr val="574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PILAR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50976"/>
            <a:ext cx="38862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74717"/>
                </a:solidFill>
                <a:latin typeface="Aptos"/>
              </a:rPr>
              <a:t>O OBJETIVO É
EMAGRECER BEM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682496"/>
            <a:ext cx="3703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746853"/>
                </a:solidFill>
                <a:latin typeface="Aptos"/>
              </a:rPr>
              <a:t>Resultado bonito é aquele que melhora corpo, energia e autoestima ao mesmo tempo.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331720"/>
            <a:ext cx="162763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2432304"/>
            <a:ext cx="135331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F8844"/>
                </a:solidFill>
                <a:latin typeface="Aptos"/>
              </a:rPr>
              <a:t>MENOS PERDA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633472"/>
            <a:ext cx="135331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61616"/>
                </a:solidFill>
                <a:latin typeface="Aptos"/>
              </a:rPr>
              <a:t>menos risco de afinamento e queda difusa.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0008" y="2331720"/>
            <a:ext cx="162763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2432304"/>
            <a:ext cx="135331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F8844"/>
                </a:solidFill>
                <a:latin typeface="Aptos"/>
              </a:rPr>
              <a:t>MAIS COERÊNCIA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633472"/>
            <a:ext cx="135331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61616"/>
                </a:solidFill>
                <a:latin typeface="Aptos"/>
              </a:rPr>
              <a:t>emagrecimento alinhado com saúde real.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3749039"/>
            <a:ext cx="162763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3849623"/>
            <a:ext cx="135331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F8844"/>
                </a:solidFill>
                <a:latin typeface="Aptos"/>
              </a:rPr>
              <a:t>MAIS CONFIANÇA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4050791"/>
            <a:ext cx="135331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61616"/>
                </a:solidFill>
                <a:latin typeface="Aptos"/>
              </a:rPr>
              <a:t>o espelho passa a acompanhar o processo.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50008" y="3749039"/>
            <a:ext cx="162763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87168" y="3849623"/>
            <a:ext cx="135331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F8844"/>
                </a:solidFill>
                <a:latin typeface="Aptos"/>
              </a:rPr>
              <a:t>MAIS RESULTADO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4050791"/>
            <a:ext cx="135331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61616"/>
                </a:solidFill>
                <a:latin typeface="Aptos"/>
              </a:rPr>
              <a:t>massa, nutrientes e cabelos mais preservados.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5321808"/>
            <a:ext cx="3566160" cy="420624"/>
          </a:xfrm>
          <a:prstGeom prst="roundRect">
            <a:avLst/>
          </a:prstGeom>
          <a:solidFill>
            <a:srgbClr val="EBE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5422392"/>
            <a:ext cx="3154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0" b="0">
                <a:solidFill>
                  <a:srgbClr val="574717"/>
                </a:solidFill>
                <a:latin typeface="Aptos"/>
              </a:rPr>
              <a:t>Peça editorial para educação e posicionamento médico.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8759952"/>
            <a:ext cx="6537960" cy="13716"/>
          </a:xfrm>
          <a:prstGeom prst="rect">
            <a:avLst/>
          </a:prstGeom>
          <a:solidFill>
            <a:srgbClr val="DED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88879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46853"/>
                </a:solidFill>
                <a:latin typeface="Aptos"/>
              </a:rPr>
              <a:t>@dradaniely.freitas</a:t>
            </a:r>
          </a:p>
        </p:txBody>
      </p:sp>
      <p:sp>
        <p:nvSpPr>
          <p:cNvPr id="24" name="Chevron 23"/>
          <p:cNvSpPr/>
          <p:nvPr/>
        </p:nvSpPr>
        <p:spPr>
          <a:xfrm>
            <a:off x="6492240" y="8842248"/>
            <a:ext cx="164592" cy="109728"/>
          </a:xfrm>
          <a:prstGeom prst="chevron">
            <a:avLst/>
          </a:prstGeom>
          <a:solidFill>
            <a:srgbClr val="74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9525304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2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713232"/>
            <a:ext cx="2432304" cy="7360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36592" y="713232"/>
            <a:ext cx="2432304" cy="7360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064" y="585216"/>
            <a:ext cx="1719072" cy="274320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MINHA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50976"/>
            <a:ext cx="38862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574717"/>
                </a:solidFill>
                <a:latin typeface="Aptos"/>
              </a:rPr>
              <a:t>O QUE EU FAÇO
NA PRÁTICA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682496"/>
            <a:ext cx="3703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746853"/>
                </a:solidFill>
                <a:latin typeface="Aptos"/>
              </a:rPr>
              <a:t>O protocolo certo protege o emagrecimento sem negligenciar o cabelo.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331720"/>
            <a:ext cx="376732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6" y="2706624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161616"/>
                </a:solidFill>
                <a:latin typeface="Aptos"/>
              </a:rPr>
              <a:t>Mapeio exames e história clínica antes de acelerar o processo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" y="3364991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28415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161616"/>
                </a:solidFill>
                <a:latin typeface="Aptos"/>
              </a:rPr>
              <a:t>Corrijo proteína, ferro, vitaminas e sinais de carência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" y="4023359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986783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161616"/>
                </a:solidFill>
                <a:latin typeface="Aptos"/>
              </a:rPr>
              <a:t>Ajusto medicações e metas de velocidade</a:t>
            </a:r>
          </a:p>
        </p:txBody>
      </p:sp>
      <p:sp>
        <p:nvSpPr>
          <p:cNvPr id="15" name="Oval 14"/>
          <p:cNvSpPr/>
          <p:nvPr/>
        </p:nvSpPr>
        <p:spPr>
          <a:xfrm>
            <a:off x="768096" y="4681727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64515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161616"/>
                </a:solidFill>
                <a:latin typeface="Aptos"/>
              </a:rPr>
              <a:t>Monitoro sintomas, composição corporal e resposta capilar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" y="5340095"/>
            <a:ext cx="91440" cy="91440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303519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161616"/>
                </a:solidFill>
                <a:latin typeface="Aptos"/>
              </a:rPr>
              <a:t>Personalizo a estratégia conforme cada paciente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8759952"/>
            <a:ext cx="6537960" cy="13716"/>
          </a:xfrm>
          <a:prstGeom prst="rect">
            <a:avLst/>
          </a:prstGeom>
          <a:solidFill>
            <a:srgbClr val="DED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88879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46853"/>
                </a:solidFill>
                <a:latin typeface="Aptos"/>
              </a:rPr>
              <a:t>@dradaniely.freitas</a:t>
            </a:r>
          </a:p>
        </p:txBody>
      </p:sp>
      <p:sp>
        <p:nvSpPr>
          <p:cNvPr id="21" name="Chevron 20"/>
          <p:cNvSpPr/>
          <p:nvPr/>
        </p:nvSpPr>
        <p:spPr>
          <a:xfrm>
            <a:off x="6492240" y="8842248"/>
            <a:ext cx="164592" cy="109728"/>
          </a:xfrm>
          <a:prstGeom prst="chevron">
            <a:avLst/>
          </a:prstGeom>
          <a:solidFill>
            <a:srgbClr val="746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619695" cy="9525304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658368"/>
            <a:ext cx="128016" cy="8092440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658368"/>
            <a:ext cx="19659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74717"/>
                </a:solidFill>
                <a:latin typeface="Aptos"/>
              </a:rPr>
              <a:t>ATENDIMENTO VITAL SLIM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4709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EMAGRECER E
PRESERVAR OS FIOS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566160"/>
            <a:ext cx="457200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10" b="0">
                <a:solidFill>
                  <a:srgbClr val="FFFFFF"/>
                </a:solidFill>
                <a:latin typeface="Aptos"/>
              </a:rPr>
              <a:t>É possível quando existe diagnóstico, estratégia e acompanhamento.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4919472"/>
            <a:ext cx="2852928" cy="530352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Envie CAPILAR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8759952"/>
            <a:ext cx="6537960" cy="13716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888796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11" name="Chevron 10"/>
          <p:cNvSpPr/>
          <p:nvPr/>
        </p:nvSpPr>
        <p:spPr>
          <a:xfrm>
            <a:off x="6492240" y="8842248"/>
            <a:ext cx="164592" cy="109728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12864" y="402336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74717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