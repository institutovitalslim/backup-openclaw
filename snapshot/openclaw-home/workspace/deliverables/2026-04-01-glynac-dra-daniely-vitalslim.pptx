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619695" cy="95253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619695" cy="9525304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658368"/>
            <a:ext cx="128016" cy="8092440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658368"/>
            <a:ext cx="201168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74717"/>
                </a:solidFill>
                <a:latin typeface="Aptos"/>
              </a:rPr>
              <a:t>DRA. DANIELY FREITAS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24912" y="658368"/>
            <a:ext cx="1417320" cy="274320"/>
          </a:xfrm>
          <a:prstGeom prst="round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VITAL SLIM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45720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GLYNAC
NA ROTINA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3566160"/>
            <a:ext cx="4389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20" b="0">
                <a:solidFill>
                  <a:srgbClr val="FFFFFF"/>
                </a:solidFill>
                <a:latin typeface="Aptos"/>
              </a:rPr>
              <a:t>Conteúdo clínico com sofisticação visual, dados objetivos e aplicação prática.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8759952"/>
            <a:ext cx="6537960" cy="13716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8887968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11" name="Chevron 10"/>
          <p:cNvSpPr/>
          <p:nvPr/>
        </p:nvSpPr>
        <p:spPr>
          <a:xfrm>
            <a:off x="6492240" y="8842248"/>
            <a:ext cx="164592" cy="109728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12864" y="402336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74717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9525304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2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713232"/>
            <a:ext cx="2432304" cy="7360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36592" y="713232"/>
            <a:ext cx="2432304" cy="7360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2064" y="585216"/>
            <a:ext cx="1444752" cy="274320"/>
          </a:xfrm>
          <a:prstGeom prst="roundRect">
            <a:avLst/>
          </a:prstGeom>
          <a:solidFill>
            <a:srgbClr val="574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PROVA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50976"/>
            <a:ext cx="3840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74717"/>
                </a:solidFill>
                <a:latin typeface="Aptos"/>
              </a:rPr>
              <a:t>GLUTATIONA
EM ALTA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664208"/>
            <a:ext cx="3703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746853"/>
                </a:solidFill>
                <a:latin typeface="Aptos"/>
              </a:rPr>
              <a:t>Quando bem indicado, o protocolo tende a melhorar o ambiente redox.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2331720"/>
            <a:ext cx="1627632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441448"/>
            <a:ext cx="13350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746853"/>
                </a:solidFill>
                <a:latin typeface="Aptos"/>
              </a:rPr>
              <a:t>SÍNTESE DE GSH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615184"/>
            <a:ext cx="13350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74717"/>
                </a:solidFill>
                <a:latin typeface="Aptos"/>
              </a:rPr>
              <a:t>~120%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953512"/>
            <a:ext cx="1335024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61616"/>
                </a:solidFill>
                <a:latin typeface="Aptos"/>
              </a:rPr>
              <a:t>produção antioxidante mais robusta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50008" y="2331720"/>
            <a:ext cx="1627632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96312" y="2441448"/>
            <a:ext cx="13350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746853"/>
                </a:solidFill>
                <a:latin typeface="Aptos"/>
              </a:rPr>
              <a:t>GSH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6312" y="2615184"/>
            <a:ext cx="13350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74717"/>
                </a:solidFill>
                <a:latin typeface="Aptos"/>
              </a:rPr>
              <a:t>~55%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6312" y="2953512"/>
            <a:ext cx="1335024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61616"/>
                </a:solidFill>
                <a:latin typeface="Aptos"/>
              </a:rPr>
              <a:t>melhora da reserva celular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" y="3657600"/>
            <a:ext cx="1627632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767328"/>
            <a:ext cx="13350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746853"/>
                </a:solidFill>
                <a:latin typeface="Aptos"/>
              </a:rPr>
              <a:t>RELAÇÃO GSH/GSSG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941064"/>
            <a:ext cx="13350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74717"/>
                </a:solidFill>
                <a:latin typeface="Aptos"/>
              </a:rPr>
              <a:t>~125%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79392"/>
            <a:ext cx="1335024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61616"/>
                </a:solidFill>
                <a:latin typeface="Aptos"/>
              </a:rPr>
              <a:t>redox mais favorável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50008" y="3657600"/>
            <a:ext cx="1627632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96312" y="3767328"/>
            <a:ext cx="13350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746853"/>
                </a:solidFill>
                <a:latin typeface="Aptos"/>
              </a:rPr>
              <a:t>RADICAIS REATIVOS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96312" y="3941064"/>
            <a:ext cx="13350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74717"/>
                </a:solidFill>
                <a:latin typeface="Aptos"/>
              </a:rPr>
              <a:t>~50%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96312" y="4279392"/>
            <a:ext cx="1335024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61616"/>
                </a:solidFill>
                <a:latin typeface="Aptos"/>
              </a:rPr>
              <a:t>menos estresse oxidativo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" y="5303520"/>
            <a:ext cx="3566160" cy="420624"/>
          </a:xfrm>
          <a:prstGeom prst="roundRect">
            <a:avLst/>
          </a:prstGeom>
          <a:solidFill>
            <a:srgbClr val="EBE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5422392"/>
            <a:ext cx="3154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0" b="0">
                <a:solidFill>
                  <a:srgbClr val="574717"/>
                </a:solidFill>
                <a:latin typeface="Aptos"/>
              </a:rPr>
              <a:t>Dados editoriais baseados no estudo de Lai et al., 2024.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8759952"/>
            <a:ext cx="6537960" cy="13716"/>
          </a:xfrm>
          <a:prstGeom prst="rect">
            <a:avLst/>
          </a:prstGeom>
          <a:solidFill>
            <a:srgbClr val="DED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8887968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746853"/>
                </a:solidFill>
                <a:latin typeface="Aptos"/>
              </a:rPr>
              <a:t>@dradaniely.freitas</a:t>
            </a:r>
          </a:p>
        </p:txBody>
      </p:sp>
      <p:sp>
        <p:nvSpPr>
          <p:cNvPr id="28" name="Chevron 27"/>
          <p:cNvSpPr/>
          <p:nvPr/>
        </p:nvSpPr>
        <p:spPr>
          <a:xfrm>
            <a:off x="6492240" y="8842248"/>
            <a:ext cx="164592" cy="109728"/>
          </a:xfrm>
          <a:prstGeom prst="chevron">
            <a:avLst/>
          </a:prstGeom>
          <a:solidFill>
            <a:srgbClr val="746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12864" y="402336"/>
            <a:ext cx="347472" cy="347472"/>
          </a:xfrm>
          <a:prstGeom prst="ellipse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9525304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2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713232"/>
            <a:ext cx="2432304" cy="7360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36592" y="713232"/>
            <a:ext cx="2432304" cy="7360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2064" y="585216"/>
            <a:ext cx="1444752" cy="274320"/>
          </a:xfrm>
          <a:prstGeom prst="roundRect">
            <a:avLst/>
          </a:prstGeom>
          <a:solidFill>
            <a:srgbClr val="574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PROVA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50976"/>
            <a:ext cx="3840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74717"/>
                </a:solidFill>
                <a:latin typeface="Aptos"/>
              </a:rPr>
              <a:t>METABOLISMO
MAIS FLEXÍVEL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664208"/>
            <a:ext cx="3703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746853"/>
                </a:solidFill>
                <a:latin typeface="Aptos"/>
              </a:rPr>
              <a:t>A leitura clínica sugere resposta metabólica mais eficiente.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2331720"/>
            <a:ext cx="1627632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441448"/>
            <a:ext cx="13350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746853"/>
                </a:solidFill>
                <a:latin typeface="Aptos"/>
              </a:rPr>
              <a:t>NEFA EM JEJUM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615184"/>
            <a:ext cx="13350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74717"/>
                </a:solidFill>
                <a:latin typeface="Aptos"/>
              </a:rPr>
              <a:t>~50%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953512"/>
            <a:ext cx="1335024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61616"/>
                </a:solidFill>
                <a:latin typeface="Aptos"/>
              </a:rPr>
              <a:t>melhor mobilização de gordura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50008" y="2331720"/>
            <a:ext cx="1627632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96312" y="2441448"/>
            <a:ext cx="13350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746853"/>
                </a:solidFill>
                <a:latin typeface="Aptos"/>
              </a:rPr>
              <a:t>NEFA ALIMENTADA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6312" y="2615184"/>
            <a:ext cx="13350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74717"/>
                </a:solidFill>
                <a:latin typeface="Aptos"/>
              </a:rPr>
              <a:t>~70%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6312" y="2953512"/>
            <a:ext cx="1335024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61616"/>
                </a:solidFill>
                <a:latin typeface="Aptos"/>
              </a:rPr>
              <a:t>resposta energética mais forte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" y="3657600"/>
            <a:ext cx="1627632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767328"/>
            <a:ext cx="13350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746853"/>
                </a:solidFill>
                <a:latin typeface="Aptos"/>
              </a:rPr>
              <a:t>CARBOIDRATOS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941064"/>
            <a:ext cx="13350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74717"/>
                </a:solidFill>
                <a:latin typeface="Aptos"/>
              </a:rPr>
              <a:t>~20%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79392"/>
            <a:ext cx="1335024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61616"/>
                </a:solidFill>
                <a:latin typeface="Aptos"/>
              </a:rPr>
              <a:t>uso pós-refeição mais eficiente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50008" y="3657600"/>
            <a:ext cx="1627632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96312" y="3767328"/>
            <a:ext cx="13350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746853"/>
                </a:solidFill>
                <a:latin typeface="Aptos"/>
              </a:rPr>
              <a:t>SUPRESSÃO DE NEFA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96312" y="3941064"/>
            <a:ext cx="13350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74717"/>
                </a:solidFill>
                <a:latin typeface="Aptos"/>
              </a:rPr>
              <a:t>~135%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96312" y="4279392"/>
            <a:ext cx="1335024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61616"/>
                </a:solidFill>
                <a:latin typeface="Aptos"/>
              </a:rPr>
              <a:t>sinal metabólico mais ajustado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" y="5303520"/>
            <a:ext cx="3566160" cy="420624"/>
          </a:xfrm>
          <a:prstGeom prst="roundRect">
            <a:avLst/>
          </a:prstGeom>
          <a:solidFill>
            <a:srgbClr val="EBE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5422392"/>
            <a:ext cx="3154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0" b="0">
                <a:solidFill>
                  <a:srgbClr val="574717"/>
                </a:solidFill>
                <a:latin typeface="Aptos"/>
              </a:rPr>
              <a:t>Resumo visual para educação; sempre individualizar indicação.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8759952"/>
            <a:ext cx="6537960" cy="13716"/>
          </a:xfrm>
          <a:prstGeom prst="rect">
            <a:avLst/>
          </a:prstGeom>
          <a:solidFill>
            <a:srgbClr val="DED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8887968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746853"/>
                </a:solidFill>
                <a:latin typeface="Aptos"/>
              </a:rPr>
              <a:t>@dradaniely.freitas</a:t>
            </a:r>
          </a:p>
        </p:txBody>
      </p:sp>
      <p:sp>
        <p:nvSpPr>
          <p:cNvPr id="28" name="Chevron 27"/>
          <p:cNvSpPr/>
          <p:nvPr/>
        </p:nvSpPr>
        <p:spPr>
          <a:xfrm>
            <a:off x="6492240" y="8842248"/>
            <a:ext cx="164592" cy="109728"/>
          </a:xfrm>
          <a:prstGeom prst="chevron">
            <a:avLst/>
          </a:prstGeom>
          <a:solidFill>
            <a:srgbClr val="746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12864" y="402336"/>
            <a:ext cx="347472" cy="347472"/>
          </a:xfrm>
          <a:prstGeom prst="ellipse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9525304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2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713232"/>
            <a:ext cx="2432304" cy="7360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36592" y="713232"/>
            <a:ext cx="2432304" cy="7360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2064" y="585216"/>
            <a:ext cx="1444752" cy="274320"/>
          </a:xfrm>
          <a:prstGeom prst="roundRect">
            <a:avLst/>
          </a:prstGeom>
          <a:solidFill>
            <a:srgbClr val="574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PROVA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50976"/>
            <a:ext cx="3840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74717"/>
                </a:solidFill>
                <a:latin typeface="Aptos"/>
              </a:rPr>
              <a:t>COMPOSIÇÃO E
FORÇA EM 14 DIAS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664208"/>
            <a:ext cx="3703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746853"/>
                </a:solidFill>
                <a:latin typeface="Aptos"/>
              </a:rPr>
              <a:t>O objetivo é performance com critério, não modismo.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2331720"/>
            <a:ext cx="1627632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441448"/>
            <a:ext cx="13350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746853"/>
                </a:solidFill>
                <a:latin typeface="Aptos"/>
              </a:rPr>
              <a:t>GORDURA TOTAL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615184"/>
            <a:ext cx="13350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74717"/>
                </a:solidFill>
                <a:latin typeface="Aptos"/>
              </a:rPr>
              <a:t>21,6 → 20,0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953512"/>
            <a:ext cx="1335024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61616"/>
                </a:solidFill>
                <a:latin typeface="Aptos"/>
              </a:rPr>
              <a:t>redução objetiva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50008" y="2331720"/>
            <a:ext cx="1627632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96312" y="2441448"/>
            <a:ext cx="13350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746853"/>
                </a:solidFill>
                <a:latin typeface="Aptos"/>
              </a:rPr>
              <a:t>MASSA MAGRA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6312" y="2615184"/>
            <a:ext cx="13350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74717"/>
                </a:solidFill>
                <a:latin typeface="Aptos"/>
              </a:rPr>
              <a:t>60,1 → 61,0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6312" y="2953512"/>
            <a:ext cx="1335024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61616"/>
                </a:solidFill>
                <a:latin typeface="Aptos"/>
              </a:rPr>
              <a:t>preservação com leve ganho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" y="3657600"/>
            <a:ext cx="1627632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767328"/>
            <a:ext cx="13350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746853"/>
                </a:solidFill>
                <a:latin typeface="Aptos"/>
              </a:rPr>
              <a:t>FORÇA DOMINANTE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941064"/>
            <a:ext cx="13350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74717"/>
                </a:solidFill>
                <a:latin typeface="Aptos"/>
              </a:rPr>
              <a:t>35 → 37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79392"/>
            <a:ext cx="1335024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61616"/>
                </a:solidFill>
                <a:latin typeface="Aptos"/>
              </a:rPr>
              <a:t>melhora funcional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50008" y="3657600"/>
            <a:ext cx="1627632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96312" y="3767328"/>
            <a:ext cx="13350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746853"/>
                </a:solidFill>
                <a:latin typeface="Aptos"/>
              </a:rPr>
              <a:t>FORÇA NÃO DOMINANTE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96312" y="3941064"/>
            <a:ext cx="13350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74717"/>
                </a:solidFill>
                <a:latin typeface="Aptos"/>
              </a:rPr>
              <a:t>31 → 34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96312" y="4279392"/>
            <a:ext cx="1335024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61616"/>
                </a:solidFill>
                <a:latin typeface="Aptos"/>
              </a:rPr>
              <a:t>ganho bilateral consistente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" y="5303520"/>
            <a:ext cx="3566160" cy="420624"/>
          </a:xfrm>
          <a:prstGeom prst="roundRect">
            <a:avLst/>
          </a:prstGeom>
          <a:solidFill>
            <a:srgbClr val="EBE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5422392"/>
            <a:ext cx="3154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0" b="0">
                <a:solidFill>
                  <a:srgbClr val="574717"/>
                </a:solidFill>
                <a:latin typeface="Aptos"/>
              </a:rPr>
              <a:t>Resultados variam; protocolo exige avaliação médica.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8759952"/>
            <a:ext cx="6537960" cy="13716"/>
          </a:xfrm>
          <a:prstGeom prst="rect">
            <a:avLst/>
          </a:prstGeom>
          <a:solidFill>
            <a:srgbClr val="DED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8887968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746853"/>
                </a:solidFill>
                <a:latin typeface="Aptos"/>
              </a:rPr>
              <a:t>@dradaniely.freitas</a:t>
            </a:r>
          </a:p>
        </p:txBody>
      </p:sp>
      <p:sp>
        <p:nvSpPr>
          <p:cNvPr id="28" name="Chevron 27"/>
          <p:cNvSpPr/>
          <p:nvPr/>
        </p:nvSpPr>
        <p:spPr>
          <a:xfrm>
            <a:off x="6492240" y="8842248"/>
            <a:ext cx="164592" cy="109728"/>
          </a:xfrm>
          <a:prstGeom prst="chevron">
            <a:avLst/>
          </a:prstGeom>
          <a:solidFill>
            <a:srgbClr val="746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12864" y="402336"/>
            <a:ext cx="347472" cy="347472"/>
          </a:xfrm>
          <a:prstGeom prst="ellipse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9525304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2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713232"/>
            <a:ext cx="2432304" cy="7360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36592" y="713232"/>
            <a:ext cx="2432304" cy="7360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2064" y="585216"/>
            <a:ext cx="1719072" cy="274320"/>
          </a:xfrm>
          <a:prstGeom prst="round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MINHA PRÁTICA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50976"/>
            <a:ext cx="388620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574717"/>
                </a:solidFill>
                <a:latin typeface="Aptos"/>
              </a:rPr>
              <a:t>COMO EU LEVO
ISSO PARA A CLÍNICA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682496"/>
            <a:ext cx="3703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746853"/>
                </a:solidFill>
                <a:latin typeface="Aptos"/>
              </a:rPr>
              <a:t>Nada de suplemento aleatório: tudo começa com contexto e segurança.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2331720"/>
            <a:ext cx="3767328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8096" y="2706624"/>
            <a:ext cx="91440" cy="91440"/>
          </a:xfrm>
          <a:prstGeom prst="ellipse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40" b="0">
                <a:solidFill>
                  <a:srgbClr val="161616"/>
                </a:solidFill>
                <a:latin typeface="Aptos"/>
              </a:rPr>
              <a:t>Avalio glutationa, inflamação e contexto metabólico</a:t>
            </a:r>
          </a:p>
        </p:txBody>
      </p:sp>
      <p:sp>
        <p:nvSpPr>
          <p:cNvPr id="11" name="Oval 10"/>
          <p:cNvSpPr/>
          <p:nvPr/>
        </p:nvSpPr>
        <p:spPr>
          <a:xfrm>
            <a:off x="768096" y="3364991"/>
            <a:ext cx="91440" cy="91440"/>
          </a:xfrm>
          <a:prstGeom prst="ellipse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328415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40" b="0">
                <a:solidFill>
                  <a:srgbClr val="161616"/>
                </a:solidFill>
                <a:latin typeface="Aptos"/>
              </a:rPr>
              <a:t>Monitoro homocisteína e função hepática</a:t>
            </a:r>
          </a:p>
        </p:txBody>
      </p:sp>
      <p:sp>
        <p:nvSpPr>
          <p:cNvPr id="13" name="Oval 12"/>
          <p:cNvSpPr/>
          <p:nvPr/>
        </p:nvSpPr>
        <p:spPr>
          <a:xfrm>
            <a:off x="768096" y="4023359"/>
            <a:ext cx="91440" cy="91440"/>
          </a:xfrm>
          <a:prstGeom prst="ellipse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986783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40" b="0">
                <a:solidFill>
                  <a:srgbClr val="161616"/>
                </a:solidFill>
                <a:latin typeface="Aptos"/>
              </a:rPr>
              <a:t>Ajusto dose e timing conforme resposta clínica</a:t>
            </a:r>
          </a:p>
        </p:txBody>
      </p:sp>
      <p:sp>
        <p:nvSpPr>
          <p:cNvPr id="15" name="Oval 14"/>
          <p:cNvSpPr/>
          <p:nvPr/>
        </p:nvSpPr>
        <p:spPr>
          <a:xfrm>
            <a:off x="768096" y="4681727"/>
            <a:ext cx="91440" cy="91440"/>
          </a:xfrm>
          <a:prstGeom prst="ellipse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645151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40" b="0">
                <a:solidFill>
                  <a:srgbClr val="161616"/>
                </a:solidFill>
                <a:latin typeface="Aptos"/>
              </a:rPr>
              <a:t>Integro com nutrição e composição corporal</a:t>
            </a:r>
          </a:p>
        </p:txBody>
      </p:sp>
      <p:sp>
        <p:nvSpPr>
          <p:cNvPr id="17" name="Oval 16"/>
          <p:cNvSpPr/>
          <p:nvPr/>
        </p:nvSpPr>
        <p:spPr>
          <a:xfrm>
            <a:off x="768096" y="5340095"/>
            <a:ext cx="91440" cy="91440"/>
          </a:xfrm>
          <a:prstGeom prst="ellipse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303519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40" b="0">
                <a:solidFill>
                  <a:srgbClr val="161616"/>
                </a:solidFill>
                <a:latin typeface="Aptos"/>
              </a:rPr>
              <a:t>Reavalio sinais, sintomas e exames ao longo do processo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" y="8759952"/>
            <a:ext cx="6537960" cy="13716"/>
          </a:xfrm>
          <a:prstGeom prst="rect">
            <a:avLst/>
          </a:prstGeom>
          <a:solidFill>
            <a:srgbClr val="DED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8887968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746853"/>
                </a:solidFill>
                <a:latin typeface="Aptos"/>
              </a:rPr>
              <a:t>@dradaniely.freitas</a:t>
            </a:r>
          </a:p>
        </p:txBody>
      </p:sp>
      <p:sp>
        <p:nvSpPr>
          <p:cNvPr id="21" name="Chevron 20"/>
          <p:cNvSpPr/>
          <p:nvPr/>
        </p:nvSpPr>
        <p:spPr>
          <a:xfrm>
            <a:off x="6492240" y="8842248"/>
            <a:ext cx="164592" cy="109728"/>
          </a:xfrm>
          <a:prstGeom prst="chevron">
            <a:avLst/>
          </a:prstGeom>
          <a:solidFill>
            <a:srgbClr val="746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912864" y="402336"/>
            <a:ext cx="347472" cy="347472"/>
          </a:xfrm>
          <a:prstGeom prst="ellipse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619695" cy="9525304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658368"/>
            <a:ext cx="128016" cy="8092440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658368"/>
            <a:ext cx="196596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74717"/>
                </a:solidFill>
                <a:latin typeface="Aptos"/>
              </a:rPr>
              <a:t>ATENDIMENTO VITAL SLIM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4709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NÃO É SOBRE
TOMAR MAIS.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3566160"/>
            <a:ext cx="457200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10" b="0">
                <a:solidFill>
                  <a:srgbClr val="FFFFFF"/>
                </a:solidFill>
                <a:latin typeface="Aptos"/>
              </a:rPr>
              <a:t>É sobre indicar melhor, monitorar de perto e ajustar com estratégia.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4919472"/>
            <a:ext cx="2852928" cy="530352"/>
          </a:xfrm>
          <a:prstGeom prst="round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Salve este post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8759952"/>
            <a:ext cx="6537960" cy="13716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8887968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11" name="Chevron 10"/>
          <p:cNvSpPr/>
          <p:nvPr/>
        </p:nvSpPr>
        <p:spPr>
          <a:xfrm>
            <a:off x="6492240" y="8842248"/>
            <a:ext cx="164592" cy="109728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12864" y="402336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74717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