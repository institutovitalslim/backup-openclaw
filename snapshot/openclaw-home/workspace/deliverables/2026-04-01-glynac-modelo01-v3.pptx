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619695" cy="95253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676656"/>
            <a:ext cx="73152" cy="7973568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8467344"/>
            <a:ext cx="6099048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8540496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6" name="Chevron 5"/>
          <p:cNvSpPr/>
          <p:nvPr/>
        </p:nvSpPr>
        <p:spPr>
          <a:xfrm>
            <a:off x="6281928" y="8522208"/>
            <a:ext cx="146304" cy="9144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5216" y="694944"/>
            <a:ext cx="1874519" cy="2651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574717"/>
                </a:solidFill>
                <a:latin typeface="Aptos"/>
              </a:rPr>
              <a:t>DRA. DANIELY FREITAS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2032" y="694944"/>
            <a:ext cx="1298448" cy="265176"/>
          </a:xfrm>
          <a:prstGeom prst="round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VITAL SLIM</a:t>
            </a:r>
          </a:p>
        </p:txBody>
      </p:sp>
      <p:sp>
        <p:nvSpPr>
          <p:cNvPr id="9" name="Oval 8"/>
          <p:cNvSpPr/>
          <p:nvPr/>
        </p:nvSpPr>
        <p:spPr>
          <a:xfrm>
            <a:off x="6894576" y="420624"/>
            <a:ext cx="347472" cy="34747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41414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663440"/>
            <a:ext cx="48006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GLYNAC
NA ROTINA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108192"/>
            <a:ext cx="4846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FFFFFF"/>
                </a:solidFill>
                <a:latin typeface="Aptos"/>
              </a:rPr>
              <a:t>Aplicação clínica com mais clareza, critério e autoridade visual.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676656"/>
            <a:ext cx="73152" cy="7973568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8467344"/>
            <a:ext cx="6099048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8540496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6" name="Chevron 5"/>
          <p:cNvSpPr/>
          <p:nvPr/>
        </p:nvSpPr>
        <p:spPr>
          <a:xfrm>
            <a:off x="6281928" y="8522208"/>
            <a:ext cx="146304" cy="9144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5216" y="694944"/>
            <a:ext cx="1874519" cy="2651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574717"/>
                </a:solidFill>
                <a:latin typeface="Aptos"/>
              </a:rPr>
              <a:t>DRA. DANIELY FREITAS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2032" y="694944"/>
            <a:ext cx="1298448" cy="265176"/>
          </a:xfrm>
          <a:prstGeom prst="round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VITAL SLIM</a:t>
            </a:r>
          </a:p>
        </p:txBody>
      </p:sp>
      <p:sp>
        <p:nvSpPr>
          <p:cNvPr id="9" name="Oval 8"/>
          <p:cNvSpPr/>
          <p:nvPr/>
        </p:nvSpPr>
        <p:spPr>
          <a:xfrm>
            <a:off x="6894576" y="420624"/>
            <a:ext cx="347472" cy="34747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41414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572000"/>
            <a:ext cx="50292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Aptos"/>
              </a:rPr>
              <a:t>GLUTATIONA
EM ALTA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559552"/>
            <a:ext cx="5394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FFFFFF"/>
                </a:solidFill>
                <a:latin typeface="Aptos"/>
              </a:rPr>
              <a:t>Quando bem indicado, o protocolo pode favorecer um ambiente redox mais eficiente.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199632"/>
            <a:ext cx="53949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60" b="0">
                <a:solidFill>
                  <a:srgbClr val="FFFFFF"/>
                </a:solidFill>
                <a:latin typeface="Aptos"/>
              </a:rPr>
              <a:t>O ponto não é tendência. É contexto clínico, dose adequada e acompanhamento ao longo da resposta.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8065008"/>
            <a:ext cx="5394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FFFFFF"/>
                </a:solidFill>
                <a:latin typeface="Aptos"/>
              </a:rPr>
              <a:t>Referência editorial: Lai et al., 2024.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676656"/>
            <a:ext cx="73152" cy="7973568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8467344"/>
            <a:ext cx="6099048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8540496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6" name="Chevron 5"/>
          <p:cNvSpPr/>
          <p:nvPr/>
        </p:nvSpPr>
        <p:spPr>
          <a:xfrm>
            <a:off x="6281928" y="8522208"/>
            <a:ext cx="146304" cy="9144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5216" y="694944"/>
            <a:ext cx="1874519" cy="2651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574717"/>
                </a:solidFill>
                <a:latin typeface="Aptos"/>
              </a:rPr>
              <a:t>DRA. DANIELY FREITAS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2032" y="694944"/>
            <a:ext cx="1298448" cy="265176"/>
          </a:xfrm>
          <a:prstGeom prst="round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VITAL SLIM</a:t>
            </a:r>
          </a:p>
        </p:txBody>
      </p:sp>
      <p:sp>
        <p:nvSpPr>
          <p:cNvPr id="9" name="Oval 8"/>
          <p:cNvSpPr/>
          <p:nvPr/>
        </p:nvSpPr>
        <p:spPr>
          <a:xfrm>
            <a:off x="6894576" y="420624"/>
            <a:ext cx="347472" cy="34747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41414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572000"/>
            <a:ext cx="50292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Aptos"/>
              </a:rPr>
              <a:t>METABOLISMO
MAIS FLEXÍVEL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559552"/>
            <a:ext cx="5394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FFFFFF"/>
                </a:solidFill>
                <a:latin typeface="Aptos"/>
              </a:rPr>
              <a:t>A leitura clínica sugere uma resposta energética mais ajustada e estratégica.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199632"/>
            <a:ext cx="53949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60" b="0">
                <a:solidFill>
                  <a:srgbClr val="FFFFFF"/>
                </a:solidFill>
                <a:latin typeface="Aptos"/>
              </a:rPr>
              <a:t>Na prática, isso importa quando o objetivo é combinar performance, composição corporal e segurança metabólica.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8065008"/>
            <a:ext cx="5394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FFFFFF"/>
                </a:solidFill>
                <a:latin typeface="Aptos"/>
              </a:rPr>
              <a:t>Resumo visual para educação; individualização é indispensável.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676656"/>
            <a:ext cx="73152" cy="7973568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8467344"/>
            <a:ext cx="6099048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8540496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6" name="Chevron 5"/>
          <p:cNvSpPr/>
          <p:nvPr/>
        </p:nvSpPr>
        <p:spPr>
          <a:xfrm>
            <a:off x="6281928" y="8522208"/>
            <a:ext cx="146304" cy="9144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5216" y="694944"/>
            <a:ext cx="1874519" cy="2651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574717"/>
                </a:solidFill>
                <a:latin typeface="Aptos"/>
              </a:rPr>
              <a:t>DRA. DANIELY FREITAS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2032" y="694944"/>
            <a:ext cx="1298448" cy="265176"/>
          </a:xfrm>
          <a:prstGeom prst="round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VITAL SLIM</a:t>
            </a:r>
          </a:p>
        </p:txBody>
      </p:sp>
      <p:sp>
        <p:nvSpPr>
          <p:cNvPr id="9" name="Oval 8"/>
          <p:cNvSpPr/>
          <p:nvPr/>
        </p:nvSpPr>
        <p:spPr>
          <a:xfrm>
            <a:off x="6894576" y="420624"/>
            <a:ext cx="347472" cy="34747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41414"/>
                </a:solidFill>
                <a:latin typeface="Aptos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572000"/>
            <a:ext cx="50292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Aptos"/>
              </a:rPr>
              <a:t>COMPOSIÇÃO E
FORÇA EM 14 DIAS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559552"/>
            <a:ext cx="5394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FFFFFF"/>
                </a:solidFill>
                <a:latin typeface="Aptos"/>
              </a:rPr>
              <a:t>O alvo não é apenas reduzir gordura — é preservar função, massa e performance.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199632"/>
            <a:ext cx="53949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60" b="0">
                <a:solidFill>
                  <a:srgbClr val="FFFFFF"/>
                </a:solidFill>
                <a:latin typeface="Aptos"/>
              </a:rPr>
              <a:t>Em protocolos curtos, o que interessa é a direção clínica correta: menos ruído, mais critério e melhor execução.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8065008"/>
            <a:ext cx="5394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FFFFFF"/>
                </a:solidFill>
                <a:latin typeface="Aptos"/>
              </a:rPr>
              <a:t>Peça educativa; resultados dependem do caso.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actice-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676656"/>
            <a:ext cx="73152" cy="7973568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8467344"/>
            <a:ext cx="6099048" cy="10972"/>
          </a:xfrm>
          <a:prstGeom prst="rect">
            <a:avLst/>
          </a:prstGeom>
          <a:solidFill>
            <a:srgbClr val="E1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8540496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646464"/>
                </a:solidFill>
                <a:latin typeface="Aptos"/>
              </a:rPr>
              <a:t>@dradaniely.freitas</a:t>
            </a:r>
          </a:p>
        </p:txBody>
      </p:sp>
      <p:sp>
        <p:nvSpPr>
          <p:cNvPr id="6" name="Chevron 5"/>
          <p:cNvSpPr/>
          <p:nvPr/>
        </p:nvSpPr>
        <p:spPr>
          <a:xfrm>
            <a:off x="6281928" y="8522208"/>
            <a:ext cx="146304" cy="91440"/>
          </a:xfrm>
          <a:prstGeom prst="chevron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94576" y="420624"/>
            <a:ext cx="347472" cy="34747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41414"/>
                </a:solidFill>
                <a:latin typeface="Aptos"/>
              </a:rPr>
              <a:t>5</a:t>
            </a:r>
          </a:p>
        </p:txBody>
      </p:sp>
      <p:pic>
        <p:nvPicPr>
          <p:cNvPr id="8" name="Picture 7" descr="ava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804672"/>
            <a:ext cx="530352" cy="5303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35024" y="896112"/>
            <a:ext cx="2103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1">
                <a:solidFill>
                  <a:srgbClr val="141414"/>
                </a:solidFill>
                <a:latin typeface="Aptos"/>
              </a:rPr>
              <a:t>DRA. DANIELY FREITAS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1060704"/>
            <a:ext cx="2103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646464"/>
                </a:solidFill>
                <a:latin typeface="Aptos"/>
              </a:rPr>
              <a:t>@dradaniely.freitas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05740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9F8844"/>
                </a:solidFill>
                <a:latin typeface="Aptos"/>
              </a:rPr>
              <a:t>Minha prática: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852928"/>
            <a:ext cx="5486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20" b="0">
                <a:solidFill>
                  <a:srgbClr val="141414"/>
                </a:solidFill>
                <a:latin typeface="Aptos"/>
              </a:rPr>
              <a:t>• Avalio contexto metabólico, inflamatório e objetivo clínico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566160"/>
            <a:ext cx="5486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20" b="0">
                <a:solidFill>
                  <a:srgbClr val="141414"/>
                </a:solidFill>
                <a:latin typeface="Aptos"/>
              </a:rPr>
              <a:t>• Defino se há indicação real antes de incluir qualquer protocolo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279392"/>
            <a:ext cx="5486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20" b="0">
                <a:solidFill>
                  <a:srgbClr val="141414"/>
                </a:solidFill>
                <a:latin typeface="Aptos"/>
              </a:rPr>
              <a:t>• Ajusto dose, timing e associação com nutrição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992624"/>
            <a:ext cx="5486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20" b="0">
                <a:solidFill>
                  <a:srgbClr val="141414"/>
                </a:solidFill>
                <a:latin typeface="Aptos"/>
              </a:rPr>
              <a:t>• Monitoro sinais, sintomas e exames ao longo do processo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705856"/>
            <a:ext cx="5486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20" b="0">
                <a:solidFill>
                  <a:srgbClr val="141414"/>
                </a:solidFill>
                <a:latin typeface="Aptos"/>
              </a:rPr>
              <a:t>• Reavalio o que está funcionando e o que precisa ser refinado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676656"/>
            <a:ext cx="73152" cy="7973568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8467344"/>
            <a:ext cx="6099048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8540496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6" name="Chevron 5"/>
          <p:cNvSpPr/>
          <p:nvPr/>
        </p:nvSpPr>
        <p:spPr>
          <a:xfrm>
            <a:off x="6281928" y="8522208"/>
            <a:ext cx="146304" cy="9144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5216" y="694944"/>
            <a:ext cx="1965960" cy="2651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574717"/>
                </a:solidFill>
                <a:latin typeface="Aptos"/>
              </a:rPr>
              <a:t>ATENDIMENTO VITAL SLIM</a:t>
            </a:r>
          </a:p>
        </p:txBody>
      </p:sp>
      <p:sp>
        <p:nvSpPr>
          <p:cNvPr id="8" name="Oval 7"/>
          <p:cNvSpPr/>
          <p:nvPr/>
        </p:nvSpPr>
        <p:spPr>
          <a:xfrm>
            <a:off x="6894576" y="420624"/>
            <a:ext cx="347472" cy="34747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41414"/>
                </a:solidFill>
                <a:latin typeface="Aptos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626864"/>
            <a:ext cx="48463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80" b="1">
                <a:solidFill>
                  <a:srgbClr val="FFFFFF"/>
                </a:solidFill>
                <a:latin typeface="Aptos"/>
              </a:rPr>
              <a:t>NÃO É SOBRE
TOMAR MAIS.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961888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70" b="0">
                <a:solidFill>
                  <a:srgbClr val="FFFFFF"/>
                </a:solidFill>
                <a:latin typeface="Aptos"/>
              </a:rPr>
              <a:t>É sobre indicar melhor, acompanhar de perto e ajustar com estratégia.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7059168"/>
            <a:ext cx="3840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50" b="1">
                <a:solidFill>
                  <a:srgbClr val="FFFFFF"/>
                </a:solidFill>
                <a:latin typeface="Aptos"/>
              </a:rPr>
              <a:t>Salve este post.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7461504"/>
            <a:ext cx="4754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ptos"/>
              </a:rPr>
              <a:t>Se fizer sentido, me chame para uma avaliação estratégica.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