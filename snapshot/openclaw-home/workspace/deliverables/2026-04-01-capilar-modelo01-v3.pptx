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619695" cy="95253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694944"/>
            <a:ext cx="1874519" cy="2651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574717"/>
                </a:solidFill>
                <a:latin typeface="Aptos"/>
              </a:rPr>
              <a:t>DRA. DANIELY FREITAS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694944"/>
            <a:ext cx="1298448" cy="265176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VITAL SLIM</a:t>
            </a:r>
          </a:p>
        </p:txBody>
      </p:sp>
      <p:sp>
        <p:nvSpPr>
          <p:cNvPr id="9" name="Oval 8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63440"/>
            <a:ext cx="48006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EMAGRECER SEM
PERDER CABELO?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108192"/>
            <a:ext cx="4846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FFFFFF"/>
                </a:solidFill>
                <a:latin typeface="Aptos"/>
              </a:rPr>
              <a:t>Sim — quando o processo respeita nutrientes, hormônios e velocidade de resposta.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694944"/>
            <a:ext cx="1874519" cy="2651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574717"/>
                </a:solidFill>
                <a:latin typeface="Aptos"/>
              </a:rPr>
              <a:t>DRA. DANIELY FREITAS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694944"/>
            <a:ext cx="1298448" cy="265176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VITAL SLIM</a:t>
            </a:r>
          </a:p>
        </p:txBody>
      </p:sp>
      <p:sp>
        <p:nvSpPr>
          <p:cNvPr id="9" name="Oval 8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572000"/>
            <a:ext cx="50292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Aptos"/>
              </a:rPr>
              <a:t>A QUEDA NÃO
SURGE DO NADA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559552"/>
            <a:ext cx="5394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FFFFFF"/>
                </a:solidFill>
                <a:latin typeface="Aptos"/>
              </a:rPr>
              <a:t>Proteína baixa, ferritina, estresse e velocidade excessiva podem cobrar no fio.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53949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0">
                <a:solidFill>
                  <a:srgbClr val="FFFFFF"/>
                </a:solidFill>
                <a:latin typeface="Aptos"/>
              </a:rPr>
              <a:t>Quando o emagrecimento vira agressão metabólica, o cabelo costuma ser um dos primeiros lugares a mostrar o custo biológico.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8065008"/>
            <a:ext cx="5394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FFFFFF"/>
                </a:solidFill>
                <a:latin typeface="Aptos"/>
              </a:rPr>
              <a:t>Referência editorial: eflúvio telógeno e estresse metabólico.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694944"/>
            <a:ext cx="1874519" cy="2651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574717"/>
                </a:solidFill>
                <a:latin typeface="Aptos"/>
              </a:rPr>
              <a:t>DRA. DANIELY FREITAS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694944"/>
            <a:ext cx="1298448" cy="265176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VITAL SLIM</a:t>
            </a:r>
          </a:p>
        </p:txBody>
      </p:sp>
      <p:sp>
        <p:nvSpPr>
          <p:cNvPr id="9" name="Oval 8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572000"/>
            <a:ext cx="50292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Aptos"/>
              </a:rPr>
              <a:t>NO VITAL SLIM
OLHAMOS A CAUSA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559552"/>
            <a:ext cx="5394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FFFFFF"/>
                </a:solidFill>
                <a:latin typeface="Aptos"/>
              </a:rPr>
              <a:t>O foco não é esconder a queda. É corrigir o terreno que levou a ela.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53949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0">
                <a:solidFill>
                  <a:srgbClr val="FFFFFF"/>
                </a:solidFill>
                <a:latin typeface="Aptos"/>
              </a:rPr>
              <a:t>Isso passa por exames, ajuste nutricional, revisão de estratégia e velocidade adequada para o seu caso.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8065008"/>
            <a:ext cx="5394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FFFFFF"/>
                </a:solidFill>
                <a:latin typeface="Aptos"/>
              </a:rPr>
              <a:t>Educação médica com abordagem integrada.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694944"/>
            <a:ext cx="1874519" cy="2651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574717"/>
                </a:solidFill>
                <a:latin typeface="Aptos"/>
              </a:rPr>
              <a:t>DRA. DANIELY FREITAS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694944"/>
            <a:ext cx="1298448" cy="265176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VITAL SLIM</a:t>
            </a:r>
          </a:p>
        </p:txBody>
      </p:sp>
      <p:sp>
        <p:nvSpPr>
          <p:cNvPr id="9" name="Oval 8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572000"/>
            <a:ext cx="50292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Aptos"/>
              </a:rPr>
              <a:t>O OBJETIVO É
EMAGRECER BEM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559552"/>
            <a:ext cx="5394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FFFFFF"/>
                </a:solidFill>
                <a:latin typeface="Aptos"/>
              </a:rPr>
              <a:t>Resultado bonito é aquele que melhora corpo, energia e autoestima ao mesmo tempo.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53949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0">
                <a:solidFill>
                  <a:srgbClr val="FFFFFF"/>
                </a:solidFill>
                <a:latin typeface="Aptos"/>
              </a:rPr>
              <a:t>Emagrecer bem é preservar massa, micronutrientes e confiança — sem transformar o processo em uma conta cara para o cabelo.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8065008"/>
            <a:ext cx="5394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FFFFFF"/>
                </a:solidFill>
                <a:latin typeface="Aptos"/>
              </a:rPr>
              <a:t>Peça editorial com linguagem acessível.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actice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E1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646464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5</a:t>
            </a:r>
          </a:p>
        </p:txBody>
      </p:sp>
      <p:pic>
        <p:nvPicPr>
          <p:cNvPr id="8" name="Picture 7" descr="ava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804672"/>
            <a:ext cx="530352" cy="5303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35024" y="896112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1">
                <a:solidFill>
                  <a:srgbClr val="141414"/>
                </a:solidFill>
                <a:latin typeface="Aptos"/>
              </a:rPr>
              <a:t>DRA. DANIELY FREITAS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1060704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646464"/>
                </a:solidFill>
                <a:latin typeface="Aptos"/>
              </a:rPr>
              <a:t>@dradaniely.freitas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574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9F8844"/>
                </a:solidFill>
                <a:latin typeface="Aptos"/>
              </a:rPr>
              <a:t>Minha prática: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52928"/>
            <a:ext cx="5486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0">
                <a:solidFill>
                  <a:srgbClr val="141414"/>
                </a:solidFill>
                <a:latin typeface="Aptos"/>
              </a:rPr>
              <a:t>• Mapeio exames e história clínica antes de acelerar o processo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566160"/>
            <a:ext cx="5486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0">
                <a:solidFill>
                  <a:srgbClr val="141414"/>
                </a:solidFill>
                <a:latin typeface="Aptos"/>
              </a:rPr>
              <a:t>• Corrijo proteína, ferro, vitaminas e sinais de carência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79392"/>
            <a:ext cx="5486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0">
                <a:solidFill>
                  <a:srgbClr val="141414"/>
                </a:solidFill>
                <a:latin typeface="Aptos"/>
              </a:rPr>
              <a:t>• Revejo a estratégia para emagrecer sem sacrificar saúde capilar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992624"/>
            <a:ext cx="5486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0">
                <a:solidFill>
                  <a:srgbClr val="141414"/>
                </a:solidFill>
                <a:latin typeface="Aptos"/>
              </a:rPr>
              <a:t>• Monitoro sintomas, composição corporal e resposta do fio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705856"/>
            <a:ext cx="5486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0">
                <a:solidFill>
                  <a:srgbClr val="141414"/>
                </a:solidFill>
                <a:latin typeface="Aptos"/>
              </a:rPr>
              <a:t>• Personalizo o ritmo de acordo com cada paciente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694944"/>
            <a:ext cx="1965960" cy="2651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574717"/>
                </a:solidFill>
                <a:latin typeface="Aptos"/>
              </a:rPr>
              <a:t>ATENDIMENTO VITAL SLIM</a:t>
            </a:r>
          </a:p>
        </p:txBody>
      </p:sp>
      <p:sp>
        <p:nvSpPr>
          <p:cNvPr id="8" name="Oval 7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626864"/>
            <a:ext cx="48463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80" b="1">
                <a:solidFill>
                  <a:srgbClr val="FFFFFF"/>
                </a:solidFill>
                <a:latin typeface="Aptos"/>
              </a:rPr>
              <a:t>EMAGRECER E
PRESERVAR OS FIOS.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961888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70" b="0">
                <a:solidFill>
                  <a:srgbClr val="FFFFFF"/>
                </a:solidFill>
                <a:latin typeface="Aptos"/>
              </a:rPr>
              <a:t>É possível quando existe diagnóstico, estratégia e acompanhamento.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7059168"/>
            <a:ext cx="3840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Aptos"/>
              </a:rPr>
              <a:t>Salve este post.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7461504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ptos"/>
              </a:rPr>
              <a:t>Se fizer sentido, me chame para uma avaliação estratégica.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