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548640"/>
            <a:ext cx="2606040" cy="81838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389120" y="548640"/>
            <a:ext cx="2606040" cy="8183879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548640"/>
            <a:ext cx="2606040" cy="818387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566928"/>
            <a:ext cx="2084831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0048" y="566928"/>
            <a:ext cx="1325880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82880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574717"/>
                </a:solidFill>
                <a:latin typeface="Aptos"/>
              </a:rPr>
              <a:t>GLYNAC
NA ROTINA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767328"/>
            <a:ext cx="3337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81818"/>
                </a:solidFill>
                <a:latin typeface="Aptos"/>
              </a:rPr>
              <a:t>Dados e aplicação clínica em um layout com mais autoridade visual e presença da Dra. Daniely.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5486400"/>
            <a:ext cx="3063240" cy="50292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5641848"/>
            <a:ext cx="2697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74717"/>
                </a:solidFill>
                <a:latin typeface="Aptos"/>
              </a:rPr>
              <a:t>Ciência, sofisticação e autoridade clínica.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14" name="Chevron 13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423160" cy="7086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914400"/>
            <a:ext cx="2423160" cy="70866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325880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GLUTATIONA
EM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66852"/>
                </a:solidFill>
                <a:latin typeface="Aptos"/>
              </a:rPr>
              <a:t>Quando bem indicado, o protocolo pode melhorar o ambiente redox.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SÍNTESE DE GSH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~120%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produção antioxidante mais forte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GSH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reserva celular ampliada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GSH/GSSG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~125%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redox mais favorável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RADICAIS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menos estresse oxidativo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074920"/>
            <a:ext cx="3611880" cy="41148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1937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4717"/>
                </a:solidFill>
                <a:latin typeface="Aptos"/>
              </a:rPr>
              <a:t>Base editorial: Lai et al., 2024.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423160" cy="7086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914400"/>
            <a:ext cx="2423160" cy="70866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325880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METABOLISMO
MAIS FLEXÍVEL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66852"/>
                </a:solidFill>
                <a:latin typeface="Aptos"/>
              </a:rPr>
              <a:t>A leitura clínica sugere resposta metabólica mais eficiente.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NEFA JEJUM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melhor mobilização lipídica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NEFA ALIMENTADA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resposta energética maior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CARBOIDRATOS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uso pós-refeição mais eficaz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SUPRESSÃO NEFA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~135%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sinal metabólico ajustado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074920"/>
            <a:ext cx="3611880" cy="41148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1937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4717"/>
                </a:solidFill>
                <a:latin typeface="Aptos"/>
              </a:rPr>
              <a:t>Resumo visual para educação; individualizar sempre.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423160" cy="7086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914400"/>
            <a:ext cx="2423160" cy="70866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325880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COMPOSIÇÃO E
FORÇA EM 14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66852"/>
                </a:solidFill>
                <a:latin typeface="Aptos"/>
              </a:rPr>
              <a:t>O objetivo é performance com critério — não modismo.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GORDURA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21,6 → 20,0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queda objetiva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28600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MASSA MAGRA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60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60,1 → 61,0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346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preservação com leve ganho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FORÇA DOM.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35 → 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melhora funcional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3611880"/>
            <a:ext cx="162763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66852"/>
                </a:solidFill>
                <a:latin typeface="Aptos"/>
              </a:rPr>
              <a:t>FORÇA NÃO DOM.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74717"/>
                </a:solidFill>
                <a:latin typeface="Aptos"/>
              </a:rPr>
              <a:t>31 →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605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181818"/>
                </a:solidFill>
                <a:latin typeface="Aptos"/>
              </a:rPr>
              <a:t>ganho consistente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074920"/>
            <a:ext cx="3611880" cy="411480"/>
          </a:xfrm>
          <a:prstGeom prst="roundRect">
            <a:avLst/>
          </a:prstGeom>
          <a:solidFill>
            <a:srgbClr val="ECE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1937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4717"/>
                </a:solidFill>
                <a:latin typeface="Aptos"/>
              </a:rPr>
              <a:t>Resultados variam; avaliação médica é indispensável.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04672"/>
            <a:ext cx="2468880" cy="7315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26280" y="804672"/>
            <a:ext cx="2468880" cy="7315200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66928"/>
            <a:ext cx="1645920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MINHA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14400"/>
            <a:ext cx="36576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574717"/>
                </a:solidFill>
                <a:latin typeface="Aptos"/>
              </a:rPr>
              <a:t>COMO ISSO ENTRA
NA MINHA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276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66852"/>
                </a:solidFill>
                <a:latin typeface="Aptos"/>
              </a:rPr>
              <a:t>Nada de suplemento aleatório. Tudo parte de contexto, exames e segurança.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240280"/>
            <a:ext cx="374903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06039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Avalio glutationa, inflamação e contexto metabólico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264408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369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Monitoro homocisteína e função hepática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922776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95344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Ajusto dose e timing conforme resposta clínica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581144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55371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Integro com nutrição e composição corporal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5239512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12079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181818"/>
                </a:solidFill>
                <a:latin typeface="Aptos"/>
              </a:rPr>
              <a:t>Reavalio sinais, sintomas e exames ao longo do processo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E2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66852"/>
                </a:solidFill>
                <a:latin typeface="Aptos"/>
              </a:rPr>
              <a:t>@dradaniely.freitas</a:t>
            </a:r>
          </a:p>
        </p:txBody>
      </p:sp>
      <p:sp>
        <p:nvSpPr>
          <p:cNvPr id="21" name="Chevron 20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766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566928"/>
            <a:ext cx="2633472" cy="818387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70832" y="566928"/>
            <a:ext cx="2633472" cy="8183879"/>
          </a:xfrm>
          <a:prstGeom prst="roundRect">
            <a:avLst/>
          </a:prstGeom>
          <a:noFill/>
          <a:ln w="12700">
            <a:solidFill>
              <a:srgbClr val="9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70832" y="566928"/>
            <a:ext cx="2633472" cy="818387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58368"/>
            <a:ext cx="128016" cy="8092440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658368"/>
            <a:ext cx="19202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383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FFFFFF"/>
                </a:solidFill>
                <a:latin typeface="Aptos"/>
              </a:rPr>
              <a:t>NÃO É SOBRE
TOMAR MAIS.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474720"/>
            <a:ext cx="3383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É sobre indicar melhor, acompanhar de perto e ajustar com estratégia.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029200"/>
            <a:ext cx="2468880" cy="530352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Salve este post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8759952"/>
            <a:ext cx="6510528" cy="1371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888796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2" name="Chevron 11"/>
          <p:cNvSpPr/>
          <p:nvPr/>
        </p:nvSpPr>
        <p:spPr>
          <a:xfrm>
            <a:off x="6510528" y="8842248"/>
            <a:ext cx="155448" cy="100584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7471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