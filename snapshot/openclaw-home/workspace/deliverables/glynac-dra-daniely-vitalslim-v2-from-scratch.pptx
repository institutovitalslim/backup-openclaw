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08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28016" cy="8138160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2057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816"/>
                </a:solidFill>
                <a:latin typeface="Aptos"/>
              </a:rPr>
              <a:t>DRA. DANIELY FREITAS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0632" y="658368"/>
            <a:ext cx="1536192" cy="274320"/>
          </a:xfrm>
          <a:prstGeom prst="round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4480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611880"/>
            <a:ext cx="4206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ptos"/>
              </a:rPr>
              <a:t>Glutationa, metabolismo e composição corporal com leitura clínica elegante e estratégica.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7909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Conteúdo clínico • premium • aplicável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181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13232"/>
            <a:ext cx="2395728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73168" y="713232"/>
            <a:ext cx="2395728" cy="7360920"/>
          </a:xfrm>
          <a:prstGeom prst="rect">
            <a:avLst/>
          </a:prstGeom>
          <a:solidFill>
            <a:srgbClr val="09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94360"/>
            <a:ext cx="1554480" cy="274320"/>
          </a:xfrm>
          <a:prstGeom prst="roundRect">
            <a:avLst/>
          </a:prstGeom>
          <a:solidFill>
            <a:srgbClr val="11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816"/>
                </a:solidFill>
                <a:latin typeface="Aptos"/>
              </a:rPr>
              <a:t>GLUTATIONA
EM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763"/>
                </a:solidFill>
                <a:latin typeface="Aptos"/>
              </a:rPr>
              <a:t>Quando o protocolo é bem indicado, o ganho bioquímico fica mais nítido.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SÍNTESE DE GSH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produção antioxidante ampliada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GSH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melhor reserva celular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RELAÇÃO GSH/GSSG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~125%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redox mais favorável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RADICAIS REATIVOS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estresse oxidativo menor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21808"/>
            <a:ext cx="3474720" cy="438912"/>
          </a:xfrm>
          <a:prstGeom prst="roundRect">
            <a:avLst/>
          </a:prstGeom>
          <a:solidFill>
            <a:srgbClr val="BA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0D5547"/>
                </a:solidFill>
                <a:latin typeface="Aptos"/>
              </a:rPr>
              <a:t>Baseado em literatura recente sobre GlyNAC e glutationa.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9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5E6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13232"/>
            <a:ext cx="2395728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73168" y="713232"/>
            <a:ext cx="2395728" cy="7360920"/>
          </a:xfrm>
          <a:prstGeom prst="rect">
            <a:avLst/>
          </a:prstGeom>
          <a:solidFill>
            <a:srgbClr val="09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94360"/>
            <a:ext cx="1554480" cy="274320"/>
          </a:xfrm>
          <a:prstGeom prst="roundRect">
            <a:avLst/>
          </a:prstGeom>
          <a:solidFill>
            <a:srgbClr val="11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816"/>
                </a:solidFill>
                <a:latin typeface="Aptos"/>
              </a:rPr>
              <a:t>METABOLISMO
MAIS FLEXÍVEL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763"/>
                </a:solidFill>
                <a:latin typeface="Aptos"/>
              </a:rPr>
              <a:t>Os marcadores sugerem resposta metabólica mais eficiente e adaptativa.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NEFA EM JEJUM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mobilização lipídica maior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NEFA ALIMENTADA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uso energético mais eficaz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CARBOIDRATOS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melhor oxidação pós-refeição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SUPRESSÃO DE NEFA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~135%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sinal insulínico mais responsivo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21808"/>
            <a:ext cx="3474720" cy="438912"/>
          </a:xfrm>
          <a:prstGeom prst="roundRect">
            <a:avLst/>
          </a:prstGeom>
          <a:solidFill>
            <a:srgbClr val="BA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0D5547"/>
                </a:solidFill>
                <a:latin typeface="Aptos"/>
              </a:rPr>
              <a:t>Baseado em literatura recente sobre GlyNAC e glutationa.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9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5E6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13232"/>
            <a:ext cx="2395728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73168" y="713232"/>
            <a:ext cx="2395728" cy="7360920"/>
          </a:xfrm>
          <a:prstGeom prst="rect">
            <a:avLst/>
          </a:prstGeom>
          <a:solidFill>
            <a:srgbClr val="09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94360"/>
            <a:ext cx="1554480" cy="274320"/>
          </a:xfrm>
          <a:prstGeom prst="roundRect">
            <a:avLst/>
          </a:prstGeom>
          <a:solidFill>
            <a:srgbClr val="11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PROVA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816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64208"/>
            <a:ext cx="3703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763"/>
                </a:solidFill>
                <a:latin typeface="Aptos"/>
              </a:rPr>
              <a:t>Mudanças elegantes são aquelas que respeitam o corpo e preservam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GORDURA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21,6 → 20,0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queda objetiva de massa gorda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331720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441448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MASSA MAGRA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642616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60,1 → 61,0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3580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preservação com leve ganho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FORÇA DOMINANTE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35 → 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melhora funcional percebida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0008" y="3675887"/>
            <a:ext cx="16276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785615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FORÇA NÃO DOMINANTE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986783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547"/>
                </a:solidFill>
                <a:latin typeface="Aptos"/>
              </a:rPr>
              <a:t>31 →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4379975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171B19"/>
                </a:solidFill>
                <a:latin typeface="Aptos"/>
              </a:rPr>
              <a:t>ganho consistente bilateral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5321808"/>
            <a:ext cx="3474720" cy="438912"/>
          </a:xfrm>
          <a:prstGeom prst="roundRect">
            <a:avLst/>
          </a:prstGeom>
          <a:solidFill>
            <a:srgbClr val="BA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0D5547"/>
                </a:solidFill>
                <a:latin typeface="Aptos"/>
              </a:rPr>
              <a:t>Baseado em literatura recente sobre GlyNAC e glutationa.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9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@dradaniely.freitas</a:t>
            </a:r>
          </a:p>
        </p:txBody>
      </p:sp>
      <p:sp>
        <p:nvSpPr>
          <p:cNvPr id="28" name="Chevron 27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5E6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09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94360"/>
            <a:ext cx="1755648" cy="274320"/>
          </a:xfrm>
          <a:prstGeom prst="round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37947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11816"/>
                </a:solidFill>
                <a:latin typeface="Aptos"/>
              </a:rPr>
              <a:t>PROTOCOLO COM
CRITÉRIO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737360"/>
            <a:ext cx="3657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763"/>
                </a:solidFill>
                <a:latin typeface="Aptos"/>
              </a:rPr>
              <a:t>Nada de modismo: avaliação, monitoramento e individualização.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3749039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697479"/>
            <a:ext cx="91440" cy="91440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171B19"/>
                </a:solidFill>
                <a:latin typeface="Aptos"/>
              </a:rPr>
              <a:t>Avaliação de glutationa e contexto metabólico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3355847"/>
            <a:ext cx="91440" cy="91440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5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171B19"/>
                </a:solidFill>
                <a:latin typeface="Aptos"/>
              </a:rPr>
              <a:t>Homocisteína e função hepática monitoradas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4014215"/>
            <a:ext cx="91440" cy="91440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86783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171B19"/>
                </a:solidFill>
                <a:latin typeface="Aptos"/>
              </a:rPr>
              <a:t>NAC e glicina fracionados conforme tolerância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672583"/>
            <a:ext cx="91440" cy="91440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45151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171B19"/>
                </a:solidFill>
                <a:latin typeface="Aptos"/>
              </a:rPr>
              <a:t>Insulina e composição corporal acompanhadas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5330951"/>
            <a:ext cx="91440" cy="91440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03519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171B19"/>
                </a:solidFill>
                <a:latin typeface="Aptos"/>
              </a:rPr>
              <a:t>Ajustes integrados com TRH e nutrição personalizada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6236208"/>
            <a:ext cx="3246120" cy="384048"/>
          </a:xfrm>
          <a:prstGeom prst="roundRect">
            <a:avLst/>
          </a:prstGeom>
          <a:solidFill>
            <a:srgbClr val="BA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6336792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0D5547"/>
                </a:solidFill>
                <a:latin typeface="Aptos"/>
              </a:rPr>
              <a:t>Sofisticação sem perder segurança clínica.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9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763"/>
                </a:solidFill>
                <a:latin typeface="Aptos"/>
              </a:rPr>
              <a:t>@dradaniely.freitas</a:t>
            </a:r>
          </a:p>
        </p:txBody>
      </p:sp>
      <p:sp>
        <p:nvSpPr>
          <p:cNvPr id="23" name="Chevron 22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5E6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5E6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08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76656"/>
            <a:ext cx="128016" cy="8046720"/>
          </a:xfrm>
          <a:prstGeom prst="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92024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816"/>
                </a:solidFill>
                <a:latin typeface="Aptos"/>
              </a:rPr>
              <a:t>ATENDIMENTO VITAL SLIM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58444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ptos"/>
              </a:rPr>
              <a:t>É sobre indicar melhor, monitorar de perto e ajustar com estratégia.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4956048"/>
            <a:ext cx="2907792" cy="530352"/>
          </a:xfrm>
          <a:prstGeom prst="roundRect">
            <a:avLst/>
          </a:prstGeom>
          <a:solidFill>
            <a:srgbClr val="0D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Agende sua avaliação integral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7955279"/>
            <a:ext cx="3840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2" name="Chevron 11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48272" y="884224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6830568" y="8787384"/>
            <a:ext cx="164592" cy="173736"/>
          </a:xfrm>
          <a:prstGeom prst="arc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22008" y="41148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1181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