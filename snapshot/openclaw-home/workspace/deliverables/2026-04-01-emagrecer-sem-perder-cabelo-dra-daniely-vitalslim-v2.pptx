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548640"/>
            <a:ext cx="2606040" cy="81838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0" y="548640"/>
            <a:ext cx="2606040" cy="8183879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548640"/>
            <a:ext cx="2606040" cy="818387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566928"/>
            <a:ext cx="2084831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566928"/>
            <a:ext cx="1325880" cy="274320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82880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574717"/>
                </a:solidFill>
                <a:latin typeface="Aptos"/>
              </a:rPr>
              <a:t>EMAGRECER SEM
PERDER CABELO?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767328"/>
            <a:ext cx="3337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81818"/>
                </a:solidFill>
                <a:latin typeface="Aptos"/>
              </a:rPr>
              <a:t>Sim — quando o processo respeita nutrientes, hormônios e velocidade de resposta.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5486400"/>
            <a:ext cx="3063240" cy="502920"/>
          </a:xfrm>
          <a:prstGeom prst="roundRect">
            <a:avLst/>
          </a:prstGeom>
          <a:solidFill>
            <a:srgbClr val="EC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5641848"/>
            <a:ext cx="2697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74717"/>
                </a:solidFill>
                <a:latin typeface="Aptos"/>
              </a:rPr>
              <a:t>Ciência, sofisticação e autoridade clínica.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14" name="Chevron 13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423160" cy="7086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0" y="914400"/>
            <a:ext cx="2423160" cy="7086600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66928"/>
            <a:ext cx="1325880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PILAR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14400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574717"/>
                </a:solidFill>
                <a:latin typeface="Aptos"/>
              </a:rPr>
              <a:t>A QUEDA NÃO
SURGE DO 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766852"/>
                </a:solidFill>
                <a:latin typeface="Aptos"/>
              </a:rPr>
              <a:t>O cabelo costuma sofrer quando o emagrecimento vira agressão metabólica.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PROTEÍNA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menos matéria-prima para fios fortes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08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FERRITINA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alerta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queda difusa pede investigação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ESTRESSE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mais risco de eflúvio telógeno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08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VELOCIDADE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excesso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resultado rápido também cobra preço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074920"/>
            <a:ext cx="3611880" cy="411480"/>
          </a:xfrm>
          <a:prstGeom prst="roundRect">
            <a:avLst/>
          </a:prstGeom>
          <a:solidFill>
            <a:srgbClr val="EC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1937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4717"/>
                </a:solidFill>
                <a:latin typeface="Aptos"/>
              </a:rPr>
              <a:t>Base editorial: eflúvio telógeno e estresse metabólico.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423160" cy="7086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0" y="914400"/>
            <a:ext cx="2423160" cy="7086600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66928"/>
            <a:ext cx="1325880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PILAR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14400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574717"/>
                </a:solidFill>
                <a:latin typeface="Aptos"/>
              </a:rPr>
              <a:t>NO VITAL SLIM
OLHAMOS A CAUSA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766852"/>
                </a:solidFill>
                <a:latin typeface="Aptos"/>
              </a:rPr>
              <a:t>O foco não é esconder a queda. É corrigir o terreno que levou a ela.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EXAMES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mapa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ferritina, B12, vitamina D, proteínas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08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NUTRIÇÃO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ajuste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proteína e micronutrientes certos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MEDICAMENTOS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revisão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emagrecer sem sacrificar saúde capilar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08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RITMO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critério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a velocidade também é tratamento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074920"/>
            <a:ext cx="3611880" cy="411480"/>
          </a:xfrm>
          <a:prstGeom prst="roundRect">
            <a:avLst/>
          </a:prstGeom>
          <a:solidFill>
            <a:srgbClr val="EC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1937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4717"/>
                </a:solidFill>
                <a:latin typeface="Aptos"/>
              </a:rPr>
              <a:t>Peça educativa com abordagem clínica integrada.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423160" cy="7086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0" y="914400"/>
            <a:ext cx="2423160" cy="7086600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66928"/>
            <a:ext cx="1325880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PILAR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14400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574717"/>
                </a:solidFill>
                <a:latin typeface="Aptos"/>
              </a:rPr>
              <a:t>O OBJETIVO É
EMAGRECER BEM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766852"/>
                </a:solidFill>
                <a:latin typeface="Aptos"/>
              </a:rPr>
              <a:t>Resultado bonito é aquele que melhora corpo, energia e autoestima ao mesmo tempo.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MENOS PERDA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fios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reduz risco de afinamento difuso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08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MAIS COERÊNCIA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metabólica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emagrecimento alinhado à saúde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MAIS CONFIANÇA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espelho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cabelo acompanha o processo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08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MAIS 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massa, nutrientes e fios preservados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074920"/>
            <a:ext cx="3611880" cy="411480"/>
          </a:xfrm>
          <a:prstGeom prst="roundRect">
            <a:avLst/>
          </a:prstGeom>
          <a:solidFill>
            <a:srgbClr val="EC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1937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4717"/>
                </a:solidFill>
                <a:latin typeface="Aptos"/>
              </a:rPr>
              <a:t>Educação médica com linguagem acessível.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04672"/>
            <a:ext cx="2468880" cy="7315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26280" y="804672"/>
            <a:ext cx="2468880" cy="7315200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66928"/>
            <a:ext cx="1645920" cy="274320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MINHA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14400"/>
            <a:ext cx="36576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574717"/>
                </a:solidFill>
                <a:latin typeface="Aptos"/>
              </a:rPr>
              <a:t>O QUE EU FAÇO
NA PRÁTICA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66852"/>
                </a:solidFill>
                <a:latin typeface="Aptos"/>
              </a:rPr>
              <a:t>A estratégia certa protege o emagrecimento sem negligenciar o cabelo.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240280"/>
            <a:ext cx="374903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06039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Mapeio exames e história clínica antes de acelerar o processo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264408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369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Corrijo proteína, ferro, vitaminas e sinais de carência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922776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95344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Ajusto medicações e metas de velocidade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581144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55371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Monitoro sintomas, composição corporal e resposta capilar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5239512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1207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Personalizo tudo conforme o paciente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21" name="Chevron 20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566928"/>
            <a:ext cx="2633472" cy="818387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70832" y="566928"/>
            <a:ext cx="2633472" cy="8183879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70832" y="566928"/>
            <a:ext cx="2633472" cy="818387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8368"/>
            <a:ext cx="128016" cy="8092440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658368"/>
            <a:ext cx="19202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74717"/>
                </a:solidFill>
                <a:latin typeface="Aptos"/>
              </a:rPr>
              <a:t>ATENDIMENTO VITAL 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3383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FFFFFF"/>
                </a:solidFill>
                <a:latin typeface="Aptos"/>
              </a:rPr>
              <a:t>EMAGRECER E
PRESERVAR OS FIOS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474720"/>
            <a:ext cx="3383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É possível quando existe diagnóstico, estratégia e acompanhamento.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5029200"/>
            <a:ext cx="2468880" cy="530352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Envie CAPILAR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2" name="Chevron 11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7471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