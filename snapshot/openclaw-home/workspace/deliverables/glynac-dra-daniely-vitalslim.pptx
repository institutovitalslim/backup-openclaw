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7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08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658368"/>
            <a:ext cx="146304" cy="8046720"/>
          </a:xfrm>
          <a:prstGeom prst="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40080"/>
            <a:ext cx="196596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372D"/>
                </a:solidFill>
                <a:latin typeface="Aptos"/>
              </a:rPr>
              <a:t>Vital Slim • Conteúdo clínico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GLYNAC
NA ROTINA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56616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Glutationa, metabolismo e performance com leitura clínica sofisticada.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4572000"/>
            <a:ext cx="2331720" cy="292608"/>
          </a:xfrm>
          <a:prstGeom prst="round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818387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0" name="Oval 9"/>
          <p:cNvSpPr/>
          <p:nvPr/>
        </p:nvSpPr>
        <p:spPr>
          <a:xfrm>
            <a:off x="6903720" y="411480"/>
            <a:ext cx="347472" cy="347472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525304"/>
          </a:xfrm>
          <a:prstGeom prst="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658368"/>
            <a:ext cx="2606040" cy="74980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81728" y="658368"/>
            <a:ext cx="2606040" cy="7498079"/>
          </a:xfrm>
          <a:prstGeom prst="rect">
            <a:avLst/>
          </a:prstGeom>
          <a:solidFill>
            <a:srgbClr val="09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548640"/>
            <a:ext cx="1965960" cy="274320"/>
          </a:xfrm>
          <a:prstGeom prst="roundRect">
            <a:avLst/>
          </a:prstGeom>
          <a:solidFill>
            <a:srgbClr val="D8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372D"/>
                </a:solidFill>
                <a:latin typeface="Aptos"/>
              </a:rPr>
              <a:t>Prova científica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372D"/>
                </a:solidFill>
                <a:latin typeface="Aptos"/>
              </a:rPr>
              <a:t>GLUTATIONA EM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9344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560"/>
                </a:solidFill>
                <a:latin typeface="Aptos"/>
              </a:rPr>
              <a:t>Marcadores centrais respondem com clareza quando há estratégia e critério.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5000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Síntese de GSH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8775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~120%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008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ganho expressivo de produção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224028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35000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GSH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58775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99008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reserva antioxidante ampliada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63016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Relação GSH/GSSG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86791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~125%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27024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ambiente redox mais favorável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352044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363016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Radicais reativos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386791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427024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redução do estresse oxidativo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813816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560"/>
                </a:solidFill>
                <a:latin typeface="Aptos"/>
              </a:rPr>
              <a:t>Referência científica: Lai et al.,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89611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@dradaniely.freitas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8759952"/>
            <a:ext cx="66294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03720" y="411480"/>
            <a:ext cx="347472" cy="347472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525304"/>
          </a:xfrm>
          <a:prstGeom prst="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658368"/>
            <a:ext cx="2606040" cy="74980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81728" y="658368"/>
            <a:ext cx="2606040" cy="7498079"/>
          </a:xfrm>
          <a:prstGeom prst="rect">
            <a:avLst/>
          </a:prstGeom>
          <a:solidFill>
            <a:srgbClr val="09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548640"/>
            <a:ext cx="1965960" cy="274320"/>
          </a:xfrm>
          <a:prstGeom prst="roundRect">
            <a:avLst/>
          </a:prstGeom>
          <a:solidFill>
            <a:srgbClr val="D8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372D"/>
                </a:solidFill>
                <a:latin typeface="Aptos"/>
              </a:rPr>
              <a:t>Prova científica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372D"/>
                </a:solidFill>
                <a:latin typeface="Aptos"/>
              </a:rPr>
              <a:t>METABOLISMO MAIS FLEXÍVEL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9344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560"/>
                </a:solidFill>
                <a:latin typeface="Aptos"/>
              </a:rPr>
              <a:t>Melhora da oxidação de substratos e resposta metabólica mais eficiente.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5000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NEFA em jejum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8775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008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maior mobilização lipídica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224028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35000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NEFA alimentada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58775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99008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resposta energética superior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63016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Carboidratos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86791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27024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melhor uso em estado alimentado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352044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363016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Supressão de NEFA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386791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~135%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427024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sinal metabólico mais ajustado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813816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560"/>
                </a:solidFill>
                <a:latin typeface="Aptos"/>
              </a:rPr>
              <a:t>Referência científica: Lai et al.,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89611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@dradaniely.freitas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8759952"/>
            <a:ext cx="66294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03720" y="411480"/>
            <a:ext cx="347472" cy="347472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525304"/>
          </a:xfrm>
          <a:prstGeom prst="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658368"/>
            <a:ext cx="2606040" cy="74980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681728" y="658368"/>
            <a:ext cx="2606040" cy="7498079"/>
          </a:xfrm>
          <a:prstGeom prst="rect">
            <a:avLst/>
          </a:prstGeom>
          <a:solidFill>
            <a:srgbClr val="09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548640"/>
            <a:ext cx="1965960" cy="274320"/>
          </a:xfrm>
          <a:prstGeom prst="roundRect">
            <a:avLst/>
          </a:prstGeom>
          <a:solidFill>
            <a:srgbClr val="D8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372D"/>
                </a:solidFill>
                <a:latin typeface="Aptos"/>
              </a:rPr>
              <a:t>Prova científica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372D"/>
                </a:solidFill>
                <a:latin typeface="Aptos"/>
              </a:rPr>
              <a:t>COMPOSIÇÃO E FORÇA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9344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560"/>
                </a:solidFill>
                <a:latin typeface="Aptos"/>
              </a:rPr>
              <a:t>Mudanças rápidas ficam mais elegantes quando o protocolo respeita o organismo.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35000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Gordura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8775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21,6 → 20,0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008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queda objetiva em 14 dias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9152" y="224028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235000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Massa magra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258775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60,1 → 61,0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99008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preservação com ganho leve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63016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Força dominante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86791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35 → 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27024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melhora funcional observável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3520440"/>
            <a:ext cx="16642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363016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Força não dominante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3867912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372D"/>
                </a:solidFill>
                <a:latin typeface="Aptos"/>
              </a:rPr>
              <a:t>31 → 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4270248"/>
            <a:ext cx="13350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91D1B"/>
                </a:solidFill>
                <a:latin typeface="Aptos"/>
              </a:rPr>
              <a:t>resposta global mais consistente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813816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560"/>
                </a:solidFill>
                <a:latin typeface="Aptos"/>
              </a:rPr>
              <a:t>Referência científica: Lai et al.,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89611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@dradaniely.freitas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8759952"/>
            <a:ext cx="66294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03720" y="411480"/>
            <a:ext cx="347472" cy="347472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525304"/>
          </a:xfrm>
          <a:prstGeom prst="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685800"/>
            <a:ext cx="2697480" cy="7452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26280" y="685800"/>
            <a:ext cx="2697480" cy="7452360"/>
          </a:xfrm>
          <a:prstGeom prst="rect">
            <a:avLst/>
          </a:prstGeom>
          <a:solidFill>
            <a:srgbClr val="09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548640"/>
            <a:ext cx="1600200" cy="274320"/>
          </a:xfrm>
          <a:prstGeom prst="roundRect">
            <a:avLst/>
          </a:prstGeom>
          <a:solidFill>
            <a:srgbClr val="D8E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372D"/>
                </a:solidFill>
                <a:latin typeface="Aptos"/>
              </a:rPr>
              <a:t>Minha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A372D"/>
                </a:solidFill>
                <a:latin typeface="Aptos"/>
              </a:rPr>
              <a:t>COMO EU APLICO
NA CLÍNICA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560"/>
                </a:solidFill>
                <a:latin typeface="Aptos"/>
              </a:rPr>
              <a:t>Nada de protocolo aleatório: decisão clínica, monitoramento e personalização.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724912"/>
            <a:ext cx="91440" cy="91440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D1B"/>
                </a:solidFill>
                <a:latin typeface="Aptos"/>
              </a:rPr>
              <a:t>Avaliação de glutationa e contexto inflamatório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410712"/>
            <a:ext cx="91440" cy="91440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D1B"/>
                </a:solidFill>
                <a:latin typeface="Aptos"/>
              </a:rPr>
              <a:t>Homocisteína e função hepática monitoradas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4096512"/>
            <a:ext cx="91440" cy="91440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D1B"/>
                </a:solidFill>
                <a:latin typeface="Aptos"/>
              </a:rPr>
              <a:t>NAC e glicina fracionados conforme tolerância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782312"/>
            <a:ext cx="91440" cy="91440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D1B"/>
                </a:solidFill>
                <a:latin typeface="Aptos"/>
              </a:rPr>
              <a:t>Insulina e composição corporal acompanhadas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5468112"/>
            <a:ext cx="91440" cy="91440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2880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91D1B"/>
                </a:solidFill>
                <a:latin typeface="Aptos"/>
              </a:rPr>
              <a:t>Ajustes integrados com TRH e nutrição personalizada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2636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A372D"/>
                </a:solidFill>
                <a:latin typeface="Aptos"/>
              </a:rPr>
              <a:t>Estratégia clínica com sofisticação e segurança.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89611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560"/>
                </a:solidFill>
                <a:latin typeface="Aptos"/>
              </a:rPr>
              <a:t>@dradaniely.freitas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8759952"/>
            <a:ext cx="6629400" cy="13716"/>
          </a:xfrm>
          <a:prstGeom prst="rect">
            <a:avLst/>
          </a:prstGeom>
          <a:solidFill>
            <a:srgbClr val="D2D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03720" y="411480"/>
            <a:ext cx="347472" cy="347472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7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ro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619695" cy="9525304"/>
          </a:xfrm>
          <a:prstGeom prst="rect">
            <a:avLst/>
          </a:prstGeom>
          <a:solidFill>
            <a:srgbClr val="06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713232"/>
            <a:ext cx="146304" cy="7863840"/>
          </a:xfrm>
          <a:prstGeom prst="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658368"/>
            <a:ext cx="2194560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372D"/>
                </a:solidFill>
                <a:latin typeface="Aptos"/>
              </a:rPr>
              <a:t>Vital Slim • Lauro de Freitas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4754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NÃO É
SUPLEMENTO ALEATÓRIO.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794760"/>
            <a:ext cx="4389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É protocolo com leitura clínica, ajuste fino e acompanhamento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4983480"/>
            <a:ext cx="2926080" cy="548640"/>
          </a:xfrm>
          <a:prstGeom prst="roundRect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Agende sua avaliação integral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81381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10" name="Oval 9"/>
          <p:cNvSpPr/>
          <p:nvPr/>
        </p:nvSpPr>
        <p:spPr>
          <a:xfrm>
            <a:off x="6903720" y="411480"/>
            <a:ext cx="347472" cy="347472"/>
          </a:xfrm>
          <a:prstGeom prst="ellipse">
            <a:avLst/>
          </a:prstGeom>
          <a:solidFill>
            <a:srgbClr val="0E5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